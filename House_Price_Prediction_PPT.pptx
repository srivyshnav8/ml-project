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E293B"/>
                </a:solidFill>
                <a:latin typeface="Arial"/>
              </a:defRPr>
            </a:pPr>
            <a:r>
              <a:rPr sz="1200" b="0" i="0" u="none" strike="noStrike">
                <a:solidFill>
                  <a:srgbClr val="1E293B"/>
                </a:solidFill>
                <a:latin typeface="Arial"/>
              </a:rPr>
              <a:t>R² Score Comparison</a:t>
            </a:r>
          </a:p>
        </c:rich>
      </c:tx>
      <c:layout/>
      <c:overlay val="0"/>
    </c:title>
    <c:autoTitleDeleted val="0"/>
    <c:plotArea>
      <c:layout/>
      <c:barChart>
        <c:barDir val="col"/>
        <c:grouping val="clustered"/>
        <c:varyColors val="0"/>
        <c:ser>
          <c:idx val="0"/>
          <c:order val="0"/>
          <c:tx>
            <c:strRef>
              <c:f>Sheet1!$B$1</c:f>
              <c:strCache>
                <c:ptCount val="1"/>
                <c:pt idx="0">
                  <c:v>R² Score</c:v>
                </c:pt>
              </c:strCache>
            </c:strRef>
          </c:tx>
          <c:spPr>
            <a:solidFill>
              <a:srgbClr val="E94560"/>
            </a:solidFill>
            <a:effectLst/>
          </c:spPr>
          <c:invertIfNegative val="0"/>
          <c:dLbls>
            <c:numFmt formatCode="#,##0" sourceLinked="0"/>
            <c:txPr>
              <a:bodyPr/>
              <a:lstStyle/>
              <a:p>
                <a:pPr>
                  <a:defRPr b="0" i="0" strike="noStrike" sz="1000" u="none">
                    <a:solidFill>
                      <a:srgbClr val="1E293B"/>
                    </a:solidFill>
                    <a:latin typeface="Arial"/>
                  </a:defRPr>
                </a:pPr>
              </a:p>
            </c:txPr>
            <c:showLegendKey val="0"/>
            <c:showVal val="1"/>
            <c:showCatName val="0"/>
            <c:showSerName val="0"/>
            <c:showPercent val="0"/>
            <c:showBubbleSize val="0"/>
            <c:showLeaderLines val="0"/>
          </c:dLbls>
          <c:cat>
            <c:multiLvlStrRef>
              <c:f>Sheet1!$A$2:$A$5</c:f>
              <c:multiLvlStrCache>
                <c:ptCount val="4"/>
                <c:lvl>
                  <c:pt idx="0">
                    <c:v>Linear Reg.</c:v>
                  </c:pt>
                  <c:pt idx="1">
                    <c:v>Random Forest</c:v>
                  </c:pt>
                  <c:pt idx="2">
                    <c:v>Grad. Boosting</c:v>
                  </c:pt>
                  <c:pt idx="3">
                    <c:v>XGBoost</c:v>
                  </c:pt>
                </c:lvl>
              </c:multiLvlStrCache>
            </c:multiLvlStrRef>
          </c:cat>
          <c:val>
            <c:numRef>
              <c:f>Sheet1!$B$2:$B$5</c:f>
              <c:numCache>
                <c:formatCode>General</c:formatCode>
                <c:ptCount val="4"/>
                <c:pt idx="0">
                  <c:v>0.82</c:v>
                </c:pt>
                <c:pt idx="1">
                  <c:v>0.88</c:v>
                </c:pt>
                <c:pt idx="2">
                  <c:v>0.9</c:v>
                </c:pt>
                <c:pt idx="3">
                  <c:v>0.91</c:v>
                </c:pt>
              </c:numCache>
            </c:numRef>
          </c:val>
        </c:ser>
        <c:dLbls>
          <c:numFmt formatCode="#,##0" sourceLinked="0"/>
          <c:txPr>
            <a:bodyPr/>
            <a:lstStyle/>
            <a:p>
              <a:pPr>
                <a:defRPr b="0" i="0" strike="noStrike" sz="1000" u="none">
                  <a:solidFill>
                    <a:srgbClr val="1E293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6213E">
              <a:alpha val="60000"/>
            </a:srgbClr>
          </a:solidFill>
          <a:ln/>
        </p:spPr>
      </p:sp>
      <p:sp>
        <p:nvSpPr>
          <p:cNvPr id="3" name="Shape 1"/>
          <p:cNvSpPr/>
          <p:nvPr/>
        </p:nvSpPr>
        <p:spPr>
          <a:xfrm>
            <a:off x="0" y="3840480"/>
            <a:ext cx="9144000" cy="1303020"/>
          </a:xfrm>
          <a:prstGeom prst="rect">
            <a:avLst/>
          </a:prstGeom>
          <a:solidFill>
            <a:srgbClr val="E94560">
              <a:alpha val="20000"/>
            </a:srgbClr>
          </a:solidFill>
          <a:ln/>
        </p:spPr>
      </p:sp>
      <p:sp>
        <p:nvSpPr>
          <p:cNvPr id="4" name="Text 2"/>
          <p:cNvSpPr/>
          <p:nvPr/>
        </p:nvSpPr>
        <p:spPr>
          <a:xfrm>
            <a:off x="731520" y="1097280"/>
            <a:ext cx="7680960" cy="914400"/>
          </a:xfrm>
          <a:prstGeom prst="rect">
            <a:avLst/>
          </a:prstGeom>
          <a:noFill/>
          <a:ln/>
        </p:spPr>
        <p:txBody>
          <a:bodyPr wrap="square" rtlCol="0" anchor="ctr"/>
          <a:lstStyle/>
          <a:p>
            <a:pPr indent="0" marL="0">
              <a:buNone/>
            </a:pPr>
            <a:r>
              <a:rPr lang="en-US" sz="4400" b="1" spc="400" kern="0" dirty="0">
                <a:solidFill>
                  <a:srgbClr val="FFFFFF"/>
                </a:solidFill>
                <a:latin typeface="Georgia" pitchFamily="34" charset="0"/>
                <a:ea typeface="Georgia" pitchFamily="34" charset="-122"/>
                <a:cs typeface="Georgia" pitchFamily="34" charset="-120"/>
              </a:rPr>
              <a:t>HOUSE SALE PRICE</a:t>
            </a:r>
            <a:endParaRPr lang="en-US" sz="4400" dirty="0"/>
          </a:p>
        </p:txBody>
      </p:sp>
      <p:sp>
        <p:nvSpPr>
          <p:cNvPr id="5" name="Text 3"/>
          <p:cNvSpPr/>
          <p:nvPr/>
        </p:nvSpPr>
        <p:spPr>
          <a:xfrm>
            <a:off x="731520" y="1920240"/>
            <a:ext cx="7680960" cy="731520"/>
          </a:xfrm>
          <a:prstGeom prst="rect">
            <a:avLst/>
          </a:prstGeom>
          <a:noFill/>
          <a:ln/>
        </p:spPr>
        <p:txBody>
          <a:bodyPr wrap="square" rtlCol="0" anchor="ctr"/>
          <a:lstStyle/>
          <a:p>
            <a:pPr indent="0" marL="0">
              <a:buNone/>
            </a:pPr>
            <a:r>
              <a:rPr lang="en-US" sz="4400" b="1" spc="400" kern="0" dirty="0">
                <a:solidFill>
                  <a:srgbClr val="E94560"/>
                </a:solidFill>
                <a:latin typeface="Georgia" pitchFamily="34" charset="0"/>
                <a:ea typeface="Georgia" pitchFamily="34" charset="-122"/>
                <a:cs typeface="Georgia" pitchFamily="34" charset="-120"/>
              </a:rPr>
              <a:t>PREDICTION</a:t>
            </a:r>
            <a:endParaRPr lang="en-US" sz="4400" dirty="0"/>
          </a:p>
        </p:txBody>
      </p:sp>
      <p:sp>
        <p:nvSpPr>
          <p:cNvPr id="6" name="Text 4"/>
          <p:cNvSpPr/>
          <p:nvPr/>
        </p:nvSpPr>
        <p:spPr>
          <a:xfrm>
            <a:off x="731520" y="2834640"/>
            <a:ext cx="7680960" cy="457200"/>
          </a:xfrm>
          <a:prstGeom prst="rect">
            <a:avLst/>
          </a:prstGeom>
          <a:noFill/>
          <a:ln/>
        </p:spPr>
        <p:txBody>
          <a:bodyPr wrap="square" rtlCol="0" anchor="ctr"/>
          <a:lstStyle/>
          <a:p>
            <a:pPr indent="0" marL="0">
              <a:buNone/>
            </a:pPr>
            <a:r>
              <a:rPr lang="en-US" sz="1800" i="1" dirty="0">
                <a:solidFill>
                  <a:srgbClr val="94A3B8"/>
                </a:solidFill>
                <a:latin typeface="Calibri" pitchFamily="34" charset="0"/>
                <a:ea typeface="Calibri" pitchFamily="34" charset="-122"/>
                <a:cs typeface="Calibri" pitchFamily="34" charset="-120"/>
              </a:rPr>
              <a:t>A Machine Learning Approach</a:t>
            </a:r>
            <a:endParaRPr lang="en-US" sz="1800" dirty="0"/>
          </a:p>
        </p:txBody>
      </p:sp>
      <p:sp>
        <p:nvSpPr>
          <p:cNvPr id="7" name="Shape 5"/>
          <p:cNvSpPr/>
          <p:nvPr/>
        </p:nvSpPr>
        <p:spPr>
          <a:xfrm>
            <a:off x="731520" y="3474720"/>
            <a:ext cx="1828800" cy="36576"/>
          </a:xfrm>
          <a:prstGeom prst="rect">
            <a:avLst/>
          </a:prstGeom>
          <a:solidFill>
            <a:srgbClr val="E94560"/>
          </a:solidFill>
          <a:ln/>
        </p:spPr>
      </p:sp>
      <p:sp>
        <p:nvSpPr>
          <p:cNvPr id="8" name="Text 6"/>
          <p:cNvSpPr/>
          <p:nvPr/>
        </p:nvSpPr>
        <p:spPr>
          <a:xfrm>
            <a:off x="731520" y="4114800"/>
            <a:ext cx="3657600" cy="365760"/>
          </a:xfrm>
          <a:prstGeom prst="rect">
            <a:avLst/>
          </a:prstGeom>
          <a:noFill/>
          <a:ln/>
        </p:spPr>
        <p:txBody>
          <a:bodyPr wrap="square" rtlCol="0" anchor="ctr"/>
          <a:lstStyle/>
          <a:p>
            <a:pPr indent="0" marL="0">
              <a:buNone/>
            </a:pPr>
            <a:r>
              <a:rPr lang="en-US" sz="1400" dirty="0">
                <a:solidFill>
                  <a:srgbClr val="94A3B8"/>
                </a:solidFill>
                <a:latin typeface="Calibri" pitchFamily="34" charset="0"/>
                <a:ea typeface="Calibri" pitchFamily="34" charset="-122"/>
                <a:cs typeface="Calibri" pitchFamily="34" charset="-120"/>
              </a:rPr>
              <a:t>Machine Learning Project</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E94560"/>
          </a:solidFill>
          <a:ln/>
        </p:spPr>
      </p:sp>
      <p:sp>
        <p:nvSpPr>
          <p:cNvPr id="3" name="Text 1"/>
          <p:cNvSpPr/>
          <p:nvPr/>
        </p:nvSpPr>
        <p:spPr>
          <a:xfrm>
            <a:off x="457200" y="274320"/>
            <a:ext cx="3657600" cy="548640"/>
          </a:xfrm>
          <a:prstGeom prst="rect">
            <a:avLst/>
          </a:prstGeom>
          <a:noFill/>
          <a:ln/>
        </p:spPr>
        <p:txBody>
          <a:bodyPr wrap="square" rtlCol="0" anchor="ctr"/>
          <a:lstStyle/>
          <a:p>
            <a:pPr indent="0" marL="0">
              <a:buNone/>
            </a:pPr>
            <a:r>
              <a:rPr lang="en-US" sz="2800" b="1" dirty="0">
                <a:solidFill>
                  <a:srgbClr val="1E293B"/>
                </a:solidFill>
                <a:latin typeface="Georgia" pitchFamily="34" charset="0"/>
                <a:ea typeface="Georgia" pitchFamily="34" charset="-122"/>
                <a:cs typeface="Georgia" pitchFamily="34" charset="-120"/>
              </a:rPr>
              <a:t>ABSTRACT</a:t>
            </a:r>
            <a:endParaRPr lang="en-US" sz="2800" dirty="0"/>
          </a:p>
        </p:txBody>
      </p:sp>
      <p:sp>
        <p:nvSpPr>
          <p:cNvPr id="4" name="Shape 2"/>
          <p:cNvSpPr/>
          <p:nvPr/>
        </p:nvSpPr>
        <p:spPr>
          <a:xfrm>
            <a:off x="457200" y="822960"/>
            <a:ext cx="1371600" cy="36576"/>
          </a:xfrm>
          <a:prstGeom prst="rect">
            <a:avLst/>
          </a:prstGeom>
          <a:solidFill>
            <a:srgbClr val="E94560"/>
          </a:solidFill>
          <a:ln/>
        </p:spPr>
      </p:sp>
      <p:sp>
        <p:nvSpPr>
          <p:cNvPr id="5" name="Text 3"/>
          <p:cNvSpPr/>
          <p:nvPr/>
        </p:nvSpPr>
        <p:spPr>
          <a:xfrm>
            <a:off x="457200" y="1097280"/>
            <a:ext cx="8229600" cy="3474720"/>
          </a:xfrm>
          <a:prstGeom prst="rect">
            <a:avLst/>
          </a:prstGeom>
          <a:noFill/>
          <a:ln/>
        </p:spPr>
        <p:txBody>
          <a:bodyPr wrap="square" rtlCol="0" anchor="t"/>
          <a:lstStyle/>
          <a:p>
            <a:pPr indent="0" marL="0">
              <a:lnSpc>
                <a:spcPct val="150000"/>
              </a:lnSpc>
              <a:buNone/>
            </a:pPr>
            <a:r>
              <a:rPr lang="en-US" sz="1400" dirty="0">
                <a:solidFill>
                  <a:srgbClr val="64748B"/>
                </a:solidFill>
                <a:latin typeface="Calibri" pitchFamily="34" charset="0"/>
                <a:ea typeface="Calibri" pitchFamily="34" charset="-122"/>
                <a:cs typeface="Calibri" pitchFamily="34" charset="-120"/>
              </a:rPr>
              <a:t>This project develops a machine learning model to predict house sale prices based on various property features such as area, number of rooms, location, age, and condition. Using the Ames Housing Dataset, we implement and compare multiple regression algorithms including Linear Regression, Random Forest, Gradient Boosting, and XGBoost to identify the most accurate predictor.</a:t>
            </a:r>
            <a:endParaRPr lang="en-US" sz="1400" dirty="0"/>
          </a:p>
          <a:p>
            <a:pPr indent="0" marL="0">
              <a:lnSpc>
                <a:spcPct val="150000"/>
              </a:lnSpc>
              <a:buNone/>
            </a:pPr>
            <a:endParaRPr lang="en-US" sz="1400" dirty="0"/>
          </a:p>
          <a:p>
            <a:pPr indent="0" marL="0">
              <a:lnSpc>
                <a:spcPct val="150000"/>
              </a:lnSpc>
              <a:buNone/>
            </a:pPr>
            <a:r>
              <a:rPr lang="en-US" sz="1400" dirty="0">
                <a:solidFill>
                  <a:srgbClr val="64748B"/>
                </a:solidFill>
                <a:latin typeface="Calibri" pitchFamily="34" charset="0"/>
                <a:ea typeface="Calibri" pitchFamily="34" charset="-122"/>
                <a:cs typeface="Calibri" pitchFamily="34" charset="-120"/>
              </a:rPr>
              <a:t>The model pipeline includes data preprocessing (handling missing values, feature encoding, scaling), exploratory data analysis, feature engineering, model training with cross-validation, and hyperparameter tuning. The final model achieves an R² score of 0.91 and RMSE of $21,500, demonstrating strong predictive capability for real estate valuation.</a:t>
            </a:r>
            <a:endParaRPr lang="en-US" sz="1400" dirty="0"/>
          </a:p>
          <a:p>
            <a:pPr indent="0" marL="0">
              <a:lnSpc>
                <a:spcPct val="150000"/>
              </a:lnSpc>
              <a:buNone/>
            </a:pPr>
            <a:endParaRPr lang="en-US" sz="1400" dirty="0"/>
          </a:p>
          <a:p>
            <a:pPr indent="0" marL="0">
              <a:lnSpc>
                <a:spcPct val="150000"/>
              </a:lnSpc>
              <a:buNone/>
            </a:pPr>
            <a:r>
              <a:rPr lang="en-US" sz="1400" dirty="0">
                <a:solidFill>
                  <a:srgbClr val="64748B"/>
                </a:solidFill>
                <a:latin typeface="Calibri" pitchFamily="34" charset="0"/>
                <a:ea typeface="Calibri" pitchFamily="34" charset="-122"/>
                <a:cs typeface="Calibri" pitchFamily="34" charset="-120"/>
              </a:rPr>
              <a:t>This solution can assist homeowners, real estate agents, and financial institutions in making data-driven pricing decisions, reducing uncertainty in property transactions.</a:t>
            </a:r>
            <a:endParaRPr lang="en-US" sz="1400" dirty="0"/>
          </a:p>
        </p:txBody>
      </p:sp>
      <p:sp>
        <p:nvSpPr>
          <p:cNvPr id="6" name="Text 4"/>
          <p:cNvSpPr/>
          <p:nvPr/>
        </p:nvSpPr>
        <p:spPr>
          <a:xfrm>
            <a:off x="7772400" y="4754880"/>
            <a:ext cx="1097280" cy="274320"/>
          </a:xfrm>
          <a:prstGeom prst="rect">
            <a:avLst/>
          </a:prstGeom>
          <a:noFill/>
          <a:ln/>
        </p:spPr>
        <p:txBody>
          <a:bodyPr wrap="square"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2 / 10</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E94560"/>
          </a:solidFill>
          <a:ln/>
        </p:spPr>
      </p:sp>
      <p:sp>
        <p:nvSpPr>
          <p:cNvPr id="3" name="Text 1"/>
          <p:cNvSpPr/>
          <p:nvPr/>
        </p:nvSpPr>
        <p:spPr>
          <a:xfrm>
            <a:off x="457200" y="274320"/>
            <a:ext cx="5486400" cy="548640"/>
          </a:xfrm>
          <a:prstGeom prst="rect">
            <a:avLst/>
          </a:prstGeom>
          <a:noFill/>
          <a:ln/>
        </p:spPr>
        <p:txBody>
          <a:bodyPr wrap="square" rtlCol="0" anchor="ctr"/>
          <a:lstStyle/>
          <a:p>
            <a:pPr indent="0" marL="0">
              <a:buNone/>
            </a:pPr>
            <a:r>
              <a:rPr lang="en-US" sz="2800" b="1" dirty="0">
                <a:solidFill>
                  <a:srgbClr val="1E293B"/>
                </a:solidFill>
                <a:latin typeface="Georgia" pitchFamily="34" charset="0"/>
                <a:ea typeface="Georgia" pitchFamily="34" charset="-122"/>
                <a:cs typeface="Georgia" pitchFamily="34" charset="-120"/>
              </a:rPr>
              <a:t>PROBLEM STATEMENT</a:t>
            </a:r>
            <a:endParaRPr lang="en-US" sz="2800" dirty="0"/>
          </a:p>
        </p:txBody>
      </p:sp>
      <p:sp>
        <p:nvSpPr>
          <p:cNvPr id="4" name="Shape 2"/>
          <p:cNvSpPr/>
          <p:nvPr/>
        </p:nvSpPr>
        <p:spPr>
          <a:xfrm>
            <a:off x="457200" y="822960"/>
            <a:ext cx="1371600" cy="36576"/>
          </a:xfrm>
          <a:prstGeom prst="rect">
            <a:avLst/>
          </a:prstGeom>
          <a:solidFill>
            <a:srgbClr val="E94560"/>
          </a:solidFill>
          <a:ln/>
        </p:spPr>
      </p:sp>
      <p:sp>
        <p:nvSpPr>
          <p:cNvPr id="5" name="Shape 3"/>
          <p:cNvSpPr/>
          <p:nvPr/>
        </p:nvSpPr>
        <p:spPr>
          <a:xfrm>
            <a:off x="457200" y="1097280"/>
            <a:ext cx="54864" cy="640080"/>
          </a:xfrm>
          <a:prstGeom prst="rect">
            <a:avLst/>
          </a:prstGeom>
          <a:solidFill>
            <a:srgbClr val="E94560"/>
          </a:solidFill>
          <a:ln/>
        </p:spPr>
      </p:sp>
      <p:sp>
        <p:nvSpPr>
          <p:cNvPr id="6" name="Text 4"/>
          <p:cNvSpPr/>
          <p:nvPr/>
        </p:nvSpPr>
        <p:spPr>
          <a:xfrm>
            <a:off x="731520" y="1097280"/>
            <a:ext cx="2743200" cy="320040"/>
          </a:xfrm>
          <a:prstGeom prst="rect">
            <a:avLst/>
          </a:prstGeom>
          <a:noFill/>
          <a:ln/>
        </p:spPr>
        <p:txBody>
          <a:bodyPr wrap="square" rtlCol="0" anchor="ctr"/>
          <a:lstStyle/>
          <a:p>
            <a:pPr indent="0" marL="0">
              <a:buNone/>
            </a:pPr>
            <a:r>
              <a:rPr lang="en-US" sz="1500" b="1" dirty="0">
                <a:solidFill>
                  <a:srgbClr val="1E293B"/>
                </a:solidFill>
                <a:latin typeface="Calibri" pitchFamily="34" charset="0"/>
                <a:ea typeface="Calibri" pitchFamily="34" charset="-122"/>
                <a:cs typeface="Calibri" pitchFamily="34" charset="-120"/>
              </a:rPr>
              <a:t>The Challenge</a:t>
            </a:r>
            <a:endParaRPr lang="en-US" sz="1500" dirty="0"/>
          </a:p>
        </p:txBody>
      </p:sp>
      <p:sp>
        <p:nvSpPr>
          <p:cNvPr id="7" name="Text 5"/>
          <p:cNvSpPr/>
          <p:nvPr/>
        </p:nvSpPr>
        <p:spPr>
          <a:xfrm>
            <a:off x="731520" y="1371600"/>
            <a:ext cx="7772400" cy="365760"/>
          </a:xfrm>
          <a:prstGeom prst="rect">
            <a:avLst/>
          </a:prstGeom>
          <a:noFill/>
          <a:ln/>
        </p:spPr>
        <p:txBody>
          <a:bodyPr wrap="square" rtlCol="0" anchor="ctr"/>
          <a:lstStyle/>
          <a:p>
            <a:pPr indent="0" marL="0">
              <a:buNone/>
            </a:pPr>
            <a:r>
              <a:rPr lang="en-US" sz="1200" dirty="0">
                <a:solidFill>
                  <a:srgbClr val="64748B"/>
                </a:solidFill>
                <a:latin typeface="Calibri" pitchFamily="34" charset="0"/>
                <a:ea typeface="Calibri" pitchFamily="34" charset="-122"/>
                <a:cs typeface="Calibri" pitchFamily="34" charset="-120"/>
              </a:rPr>
              <a:t>Traditional property valuation relies heavily on subjective human judgment, leading to inconsistent pricing and market inefficiency.</a:t>
            </a:r>
            <a:endParaRPr lang="en-US" sz="1200" dirty="0"/>
          </a:p>
        </p:txBody>
      </p:sp>
      <p:sp>
        <p:nvSpPr>
          <p:cNvPr id="8" name="Shape 6"/>
          <p:cNvSpPr/>
          <p:nvPr/>
        </p:nvSpPr>
        <p:spPr>
          <a:xfrm>
            <a:off x="457200" y="2011680"/>
            <a:ext cx="54864" cy="640080"/>
          </a:xfrm>
          <a:prstGeom prst="rect">
            <a:avLst/>
          </a:prstGeom>
          <a:solidFill>
            <a:srgbClr val="E94560"/>
          </a:solidFill>
          <a:ln/>
        </p:spPr>
      </p:sp>
      <p:sp>
        <p:nvSpPr>
          <p:cNvPr id="9" name="Text 7"/>
          <p:cNvSpPr/>
          <p:nvPr/>
        </p:nvSpPr>
        <p:spPr>
          <a:xfrm>
            <a:off x="731520" y="2011680"/>
            <a:ext cx="2743200" cy="320040"/>
          </a:xfrm>
          <a:prstGeom prst="rect">
            <a:avLst/>
          </a:prstGeom>
          <a:noFill/>
          <a:ln/>
        </p:spPr>
        <p:txBody>
          <a:bodyPr wrap="square" rtlCol="0" anchor="ctr"/>
          <a:lstStyle/>
          <a:p>
            <a:pPr indent="0" marL="0">
              <a:buNone/>
            </a:pPr>
            <a:r>
              <a:rPr lang="en-US" sz="1500" b="1" dirty="0">
                <a:solidFill>
                  <a:srgbClr val="1E293B"/>
                </a:solidFill>
                <a:latin typeface="Calibri" pitchFamily="34" charset="0"/>
                <a:ea typeface="Calibri" pitchFamily="34" charset="-122"/>
                <a:cs typeface="Calibri" pitchFamily="34" charset="-120"/>
              </a:rPr>
              <a:t>Key Question</a:t>
            </a:r>
            <a:endParaRPr lang="en-US" sz="1500" dirty="0"/>
          </a:p>
        </p:txBody>
      </p:sp>
      <p:sp>
        <p:nvSpPr>
          <p:cNvPr id="10" name="Text 8"/>
          <p:cNvSpPr/>
          <p:nvPr/>
        </p:nvSpPr>
        <p:spPr>
          <a:xfrm>
            <a:off x="731520" y="2286000"/>
            <a:ext cx="7772400" cy="365760"/>
          </a:xfrm>
          <a:prstGeom prst="rect">
            <a:avLst/>
          </a:prstGeom>
          <a:noFill/>
          <a:ln/>
        </p:spPr>
        <p:txBody>
          <a:bodyPr wrap="square" rtlCol="0" anchor="ctr"/>
          <a:lstStyle/>
          <a:p>
            <a:pPr indent="0" marL="0">
              <a:buNone/>
            </a:pPr>
            <a:r>
              <a:rPr lang="en-US" sz="1200" dirty="0">
                <a:solidFill>
                  <a:srgbClr val="64748B"/>
                </a:solidFill>
                <a:latin typeface="Calibri" pitchFamily="34" charset="0"/>
                <a:ea typeface="Calibri" pitchFamily="34" charset="-122"/>
                <a:cs typeface="Calibri" pitchFamily="34" charset="-120"/>
              </a:rPr>
              <a:t>Can we build an accurate predictive model that estimates house sale prices based on measurable property attributes?</a:t>
            </a:r>
            <a:endParaRPr lang="en-US" sz="1200" dirty="0"/>
          </a:p>
        </p:txBody>
      </p:sp>
      <p:sp>
        <p:nvSpPr>
          <p:cNvPr id="11" name="Shape 9"/>
          <p:cNvSpPr/>
          <p:nvPr/>
        </p:nvSpPr>
        <p:spPr>
          <a:xfrm>
            <a:off x="457200" y="2926080"/>
            <a:ext cx="54864" cy="640080"/>
          </a:xfrm>
          <a:prstGeom prst="rect">
            <a:avLst/>
          </a:prstGeom>
          <a:solidFill>
            <a:srgbClr val="E94560"/>
          </a:solidFill>
          <a:ln/>
        </p:spPr>
      </p:sp>
      <p:sp>
        <p:nvSpPr>
          <p:cNvPr id="12" name="Text 10"/>
          <p:cNvSpPr/>
          <p:nvPr/>
        </p:nvSpPr>
        <p:spPr>
          <a:xfrm>
            <a:off x="731520" y="2926080"/>
            <a:ext cx="2743200" cy="320040"/>
          </a:xfrm>
          <a:prstGeom prst="rect">
            <a:avLst/>
          </a:prstGeom>
          <a:noFill/>
          <a:ln/>
        </p:spPr>
        <p:txBody>
          <a:bodyPr wrap="square" rtlCol="0" anchor="ctr"/>
          <a:lstStyle/>
          <a:p>
            <a:pPr indent="0" marL="0">
              <a:buNone/>
            </a:pPr>
            <a:r>
              <a:rPr lang="en-US" sz="1500" b="1" dirty="0">
                <a:solidFill>
                  <a:srgbClr val="1E293B"/>
                </a:solidFill>
                <a:latin typeface="Calibri" pitchFamily="34" charset="0"/>
                <a:ea typeface="Calibri" pitchFamily="34" charset="-122"/>
                <a:cs typeface="Calibri" pitchFamily="34" charset="-120"/>
              </a:rPr>
              <a:t>Impact</a:t>
            </a:r>
            <a:endParaRPr lang="en-US" sz="1500" dirty="0"/>
          </a:p>
        </p:txBody>
      </p:sp>
      <p:sp>
        <p:nvSpPr>
          <p:cNvPr id="13" name="Text 11"/>
          <p:cNvSpPr/>
          <p:nvPr/>
        </p:nvSpPr>
        <p:spPr>
          <a:xfrm>
            <a:off x="731520" y="3200400"/>
            <a:ext cx="7772400" cy="365760"/>
          </a:xfrm>
          <a:prstGeom prst="rect">
            <a:avLst/>
          </a:prstGeom>
          <a:noFill/>
          <a:ln/>
        </p:spPr>
        <p:txBody>
          <a:bodyPr wrap="square" rtlCol="0" anchor="ctr"/>
          <a:lstStyle/>
          <a:p>
            <a:pPr indent="0" marL="0">
              <a:buNone/>
            </a:pPr>
            <a:r>
              <a:rPr lang="en-US" sz="1200" dirty="0">
                <a:solidFill>
                  <a:srgbClr val="64748B"/>
                </a:solidFill>
                <a:latin typeface="Calibri" pitchFamily="34" charset="0"/>
                <a:ea typeface="Calibri" pitchFamily="34" charset="-122"/>
                <a:cs typeface="Calibri" pitchFamily="34" charset="-120"/>
              </a:rPr>
              <a:t>Inaccurate pricing costs buyers and sellers thousands of dollars. A reliable ML model reduces this gap significantly.</a:t>
            </a:r>
            <a:endParaRPr lang="en-US" sz="1200" dirty="0"/>
          </a:p>
        </p:txBody>
      </p:sp>
      <p:sp>
        <p:nvSpPr>
          <p:cNvPr id="14" name="Shape 12"/>
          <p:cNvSpPr/>
          <p:nvPr/>
        </p:nvSpPr>
        <p:spPr>
          <a:xfrm>
            <a:off x="457200" y="3840480"/>
            <a:ext cx="54864" cy="640080"/>
          </a:xfrm>
          <a:prstGeom prst="rect">
            <a:avLst/>
          </a:prstGeom>
          <a:solidFill>
            <a:srgbClr val="E94560"/>
          </a:solidFill>
          <a:ln/>
        </p:spPr>
      </p:sp>
      <p:sp>
        <p:nvSpPr>
          <p:cNvPr id="15" name="Text 13"/>
          <p:cNvSpPr/>
          <p:nvPr/>
        </p:nvSpPr>
        <p:spPr>
          <a:xfrm>
            <a:off x="731520" y="3840480"/>
            <a:ext cx="2743200" cy="320040"/>
          </a:xfrm>
          <a:prstGeom prst="rect">
            <a:avLst/>
          </a:prstGeom>
          <a:noFill/>
          <a:ln/>
        </p:spPr>
        <p:txBody>
          <a:bodyPr wrap="square" rtlCol="0" anchor="ctr"/>
          <a:lstStyle/>
          <a:p>
            <a:pPr indent="0" marL="0">
              <a:buNone/>
            </a:pPr>
            <a:r>
              <a:rPr lang="en-US" sz="1500" b="1" dirty="0">
                <a:solidFill>
                  <a:srgbClr val="1E293B"/>
                </a:solidFill>
                <a:latin typeface="Calibri" pitchFamily="34" charset="0"/>
                <a:ea typeface="Calibri" pitchFamily="34" charset="-122"/>
                <a:cs typeface="Calibri" pitchFamily="34" charset="-120"/>
              </a:rPr>
              <a:t>Objective</a:t>
            </a:r>
            <a:endParaRPr lang="en-US" sz="1500" dirty="0"/>
          </a:p>
        </p:txBody>
      </p:sp>
      <p:sp>
        <p:nvSpPr>
          <p:cNvPr id="16" name="Text 14"/>
          <p:cNvSpPr/>
          <p:nvPr/>
        </p:nvSpPr>
        <p:spPr>
          <a:xfrm>
            <a:off x="731520" y="4114800"/>
            <a:ext cx="7772400" cy="365760"/>
          </a:xfrm>
          <a:prstGeom prst="rect">
            <a:avLst/>
          </a:prstGeom>
          <a:noFill/>
          <a:ln/>
        </p:spPr>
        <p:txBody>
          <a:bodyPr wrap="square" rtlCol="0" anchor="ctr"/>
          <a:lstStyle/>
          <a:p>
            <a:pPr indent="0" marL="0">
              <a:buNone/>
            </a:pPr>
            <a:r>
              <a:rPr lang="en-US" sz="1200" dirty="0">
                <a:solidFill>
                  <a:srgbClr val="64748B"/>
                </a:solidFill>
                <a:latin typeface="Calibri" pitchFamily="34" charset="0"/>
                <a:ea typeface="Calibri" pitchFamily="34" charset="-122"/>
                <a:cs typeface="Calibri" pitchFamily="34" charset="-120"/>
              </a:rPr>
              <a:t>Develop, train, and evaluate ML regression models on the Ames Housing Dataset to predict SalePrice with minimal error.</a:t>
            </a:r>
            <a:endParaRPr lang="en-US" sz="1200" dirty="0"/>
          </a:p>
        </p:txBody>
      </p:sp>
      <p:sp>
        <p:nvSpPr>
          <p:cNvPr id="17" name="Text 15"/>
          <p:cNvSpPr/>
          <p:nvPr/>
        </p:nvSpPr>
        <p:spPr>
          <a:xfrm>
            <a:off x="7772400" y="4754880"/>
            <a:ext cx="1097280" cy="274320"/>
          </a:xfrm>
          <a:prstGeom prst="rect">
            <a:avLst/>
          </a:prstGeom>
          <a:noFill/>
          <a:ln/>
        </p:spPr>
        <p:txBody>
          <a:bodyPr wrap="square"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3 / 10</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E94560"/>
          </a:solidFill>
          <a:ln/>
        </p:spPr>
      </p:sp>
      <p:sp>
        <p:nvSpPr>
          <p:cNvPr id="3" name="Text 1"/>
          <p:cNvSpPr/>
          <p:nvPr/>
        </p:nvSpPr>
        <p:spPr>
          <a:xfrm>
            <a:off x="457200" y="274320"/>
            <a:ext cx="5486400" cy="548640"/>
          </a:xfrm>
          <a:prstGeom prst="rect">
            <a:avLst/>
          </a:prstGeom>
          <a:noFill/>
          <a:ln/>
        </p:spPr>
        <p:txBody>
          <a:bodyPr wrap="square" rtlCol="0" anchor="ctr"/>
          <a:lstStyle/>
          <a:p>
            <a:pPr indent="0" marL="0">
              <a:buNone/>
            </a:pPr>
            <a:r>
              <a:rPr lang="en-US" sz="2800" b="1" dirty="0">
                <a:solidFill>
                  <a:srgbClr val="1E293B"/>
                </a:solidFill>
                <a:latin typeface="Georgia" pitchFamily="34" charset="0"/>
                <a:ea typeface="Georgia" pitchFamily="34" charset="-122"/>
                <a:cs typeface="Georgia" pitchFamily="34" charset="-120"/>
              </a:rPr>
              <a:t>TOOLS &amp; TECHNOLOGIES</a:t>
            </a:r>
            <a:endParaRPr lang="en-US" sz="2800" dirty="0"/>
          </a:p>
        </p:txBody>
      </p:sp>
      <p:sp>
        <p:nvSpPr>
          <p:cNvPr id="4" name="Shape 2"/>
          <p:cNvSpPr/>
          <p:nvPr/>
        </p:nvSpPr>
        <p:spPr>
          <a:xfrm>
            <a:off x="457200" y="822960"/>
            <a:ext cx="1371600" cy="36576"/>
          </a:xfrm>
          <a:prstGeom prst="rect">
            <a:avLst/>
          </a:prstGeom>
          <a:solidFill>
            <a:srgbClr val="E94560"/>
          </a:solidFill>
          <a:ln/>
        </p:spPr>
      </p:sp>
      <p:sp>
        <p:nvSpPr>
          <p:cNvPr id="5" name="Shape 3"/>
          <p:cNvSpPr/>
          <p:nvPr/>
        </p:nvSpPr>
        <p:spPr>
          <a:xfrm>
            <a:off x="457200" y="1188720"/>
            <a:ext cx="1828800" cy="1280160"/>
          </a:xfrm>
          <a:prstGeom prst="rect">
            <a:avLst/>
          </a:prstGeom>
          <a:solidFill>
            <a:srgbClr val="F1F5F9"/>
          </a:solidFill>
          <a:ln/>
        </p:spPr>
      </p:sp>
      <p:sp>
        <p:nvSpPr>
          <p:cNvPr id="6" name="Shape 4"/>
          <p:cNvSpPr/>
          <p:nvPr/>
        </p:nvSpPr>
        <p:spPr>
          <a:xfrm>
            <a:off x="457200" y="1188720"/>
            <a:ext cx="1828800" cy="54864"/>
          </a:xfrm>
          <a:prstGeom prst="rect">
            <a:avLst/>
          </a:prstGeom>
          <a:solidFill>
            <a:srgbClr val="3B82F6"/>
          </a:solidFill>
          <a:ln/>
        </p:spPr>
      </p:sp>
      <p:sp>
        <p:nvSpPr>
          <p:cNvPr id="7" name="Text 5"/>
          <p:cNvSpPr/>
          <p:nvPr/>
        </p:nvSpPr>
        <p:spPr>
          <a:xfrm>
            <a:off x="457200" y="1463040"/>
            <a:ext cx="1828800" cy="365760"/>
          </a:xfrm>
          <a:prstGeom prst="rect">
            <a:avLst/>
          </a:prstGeom>
          <a:noFill/>
          <a:ln/>
        </p:spPr>
        <p:txBody>
          <a:bodyPr wrap="square" rtlCol="0" anchor="ctr"/>
          <a:lstStyle/>
          <a:p>
            <a:pPr algn="ctr" indent="0" marL="0">
              <a:buNone/>
            </a:pPr>
            <a:r>
              <a:rPr lang="en-US" sz="1400" b="1" dirty="0">
                <a:solidFill>
                  <a:srgbClr val="1E293B"/>
                </a:solidFill>
                <a:latin typeface="Calibri" pitchFamily="34" charset="0"/>
                <a:ea typeface="Calibri" pitchFamily="34" charset="-122"/>
                <a:cs typeface="Calibri" pitchFamily="34" charset="-120"/>
              </a:rPr>
              <a:t>Python 3.x</a:t>
            </a:r>
            <a:endParaRPr lang="en-US" sz="1400" dirty="0"/>
          </a:p>
        </p:txBody>
      </p:sp>
      <p:sp>
        <p:nvSpPr>
          <p:cNvPr id="8" name="Text 6"/>
          <p:cNvSpPr/>
          <p:nvPr/>
        </p:nvSpPr>
        <p:spPr>
          <a:xfrm>
            <a:off x="457200" y="1828800"/>
            <a:ext cx="1828800" cy="365760"/>
          </a:xfrm>
          <a:prstGeom prst="rect">
            <a:avLst/>
          </a:prstGeom>
          <a:noFill/>
          <a:ln/>
        </p:spPr>
        <p:txBody>
          <a:bodyPr wrap="square" rtlCol="0" anchor="ctr"/>
          <a:lstStyle/>
          <a:p>
            <a:pPr algn="ctr" indent="0" marL="0">
              <a:buNone/>
            </a:pPr>
            <a:r>
              <a:rPr lang="en-US" sz="1100" dirty="0">
                <a:solidFill>
                  <a:srgbClr val="64748B"/>
                </a:solidFill>
                <a:latin typeface="Calibri" pitchFamily="34" charset="0"/>
                <a:ea typeface="Calibri" pitchFamily="34" charset="-122"/>
                <a:cs typeface="Calibri" pitchFamily="34" charset="-120"/>
              </a:rPr>
              <a:t>Primary language</a:t>
            </a:r>
            <a:endParaRPr lang="en-US" sz="1100" dirty="0"/>
          </a:p>
        </p:txBody>
      </p:sp>
      <p:sp>
        <p:nvSpPr>
          <p:cNvPr id="9" name="Shape 7"/>
          <p:cNvSpPr/>
          <p:nvPr/>
        </p:nvSpPr>
        <p:spPr>
          <a:xfrm>
            <a:off x="2560320" y="1188720"/>
            <a:ext cx="1828800" cy="1280160"/>
          </a:xfrm>
          <a:prstGeom prst="rect">
            <a:avLst/>
          </a:prstGeom>
          <a:solidFill>
            <a:srgbClr val="F1F5F9"/>
          </a:solidFill>
          <a:ln/>
        </p:spPr>
      </p:sp>
      <p:sp>
        <p:nvSpPr>
          <p:cNvPr id="10" name="Shape 8"/>
          <p:cNvSpPr/>
          <p:nvPr/>
        </p:nvSpPr>
        <p:spPr>
          <a:xfrm>
            <a:off x="2560320" y="1188720"/>
            <a:ext cx="1828800" cy="54864"/>
          </a:xfrm>
          <a:prstGeom prst="rect">
            <a:avLst/>
          </a:prstGeom>
          <a:solidFill>
            <a:srgbClr val="10B981"/>
          </a:solidFill>
          <a:ln/>
        </p:spPr>
      </p:sp>
      <p:sp>
        <p:nvSpPr>
          <p:cNvPr id="11" name="Text 9"/>
          <p:cNvSpPr/>
          <p:nvPr/>
        </p:nvSpPr>
        <p:spPr>
          <a:xfrm>
            <a:off x="2560320" y="1463040"/>
            <a:ext cx="1828800" cy="365760"/>
          </a:xfrm>
          <a:prstGeom prst="rect">
            <a:avLst/>
          </a:prstGeom>
          <a:noFill/>
          <a:ln/>
        </p:spPr>
        <p:txBody>
          <a:bodyPr wrap="square" rtlCol="0" anchor="ctr"/>
          <a:lstStyle/>
          <a:p>
            <a:pPr algn="ctr" indent="0" marL="0">
              <a:buNone/>
            </a:pPr>
            <a:r>
              <a:rPr lang="en-US" sz="1400" b="1" dirty="0">
                <a:solidFill>
                  <a:srgbClr val="1E293B"/>
                </a:solidFill>
                <a:latin typeface="Calibri" pitchFamily="34" charset="0"/>
                <a:ea typeface="Calibri" pitchFamily="34" charset="-122"/>
                <a:cs typeface="Calibri" pitchFamily="34" charset="-120"/>
              </a:rPr>
              <a:t>Scikit-learn</a:t>
            </a:r>
            <a:endParaRPr lang="en-US" sz="1400" dirty="0"/>
          </a:p>
        </p:txBody>
      </p:sp>
      <p:sp>
        <p:nvSpPr>
          <p:cNvPr id="12" name="Text 10"/>
          <p:cNvSpPr/>
          <p:nvPr/>
        </p:nvSpPr>
        <p:spPr>
          <a:xfrm>
            <a:off x="2560320" y="1828800"/>
            <a:ext cx="1828800" cy="365760"/>
          </a:xfrm>
          <a:prstGeom prst="rect">
            <a:avLst/>
          </a:prstGeom>
          <a:noFill/>
          <a:ln/>
        </p:spPr>
        <p:txBody>
          <a:bodyPr wrap="square" rtlCol="0" anchor="ctr"/>
          <a:lstStyle/>
          <a:p>
            <a:pPr algn="ctr" indent="0" marL="0">
              <a:buNone/>
            </a:pPr>
            <a:r>
              <a:rPr lang="en-US" sz="1100" dirty="0">
                <a:solidFill>
                  <a:srgbClr val="64748B"/>
                </a:solidFill>
                <a:latin typeface="Calibri" pitchFamily="34" charset="0"/>
                <a:ea typeface="Calibri" pitchFamily="34" charset="-122"/>
                <a:cs typeface="Calibri" pitchFamily="34" charset="-120"/>
              </a:rPr>
              <a:t>ML algorithms</a:t>
            </a:r>
            <a:endParaRPr lang="en-US" sz="1100" dirty="0"/>
          </a:p>
        </p:txBody>
      </p:sp>
      <p:sp>
        <p:nvSpPr>
          <p:cNvPr id="13" name="Shape 11"/>
          <p:cNvSpPr/>
          <p:nvPr/>
        </p:nvSpPr>
        <p:spPr>
          <a:xfrm>
            <a:off x="4663440" y="1188720"/>
            <a:ext cx="1828800" cy="1280160"/>
          </a:xfrm>
          <a:prstGeom prst="rect">
            <a:avLst/>
          </a:prstGeom>
          <a:solidFill>
            <a:srgbClr val="F1F5F9"/>
          </a:solidFill>
          <a:ln/>
        </p:spPr>
      </p:sp>
      <p:sp>
        <p:nvSpPr>
          <p:cNvPr id="14" name="Shape 12"/>
          <p:cNvSpPr/>
          <p:nvPr/>
        </p:nvSpPr>
        <p:spPr>
          <a:xfrm>
            <a:off x="4663440" y="1188720"/>
            <a:ext cx="1828800" cy="54864"/>
          </a:xfrm>
          <a:prstGeom prst="rect">
            <a:avLst/>
          </a:prstGeom>
          <a:solidFill>
            <a:srgbClr val="F59E0B"/>
          </a:solidFill>
          <a:ln/>
        </p:spPr>
      </p:sp>
      <p:sp>
        <p:nvSpPr>
          <p:cNvPr id="15" name="Text 13"/>
          <p:cNvSpPr/>
          <p:nvPr/>
        </p:nvSpPr>
        <p:spPr>
          <a:xfrm>
            <a:off x="4663440" y="1463040"/>
            <a:ext cx="1828800" cy="365760"/>
          </a:xfrm>
          <a:prstGeom prst="rect">
            <a:avLst/>
          </a:prstGeom>
          <a:noFill/>
          <a:ln/>
        </p:spPr>
        <p:txBody>
          <a:bodyPr wrap="square" rtlCol="0" anchor="ctr"/>
          <a:lstStyle/>
          <a:p>
            <a:pPr algn="ctr" indent="0" marL="0">
              <a:buNone/>
            </a:pPr>
            <a:r>
              <a:rPr lang="en-US" sz="1400" b="1" dirty="0">
                <a:solidFill>
                  <a:srgbClr val="1E293B"/>
                </a:solidFill>
                <a:latin typeface="Calibri" pitchFamily="34" charset="0"/>
                <a:ea typeface="Calibri" pitchFamily="34" charset="-122"/>
                <a:cs typeface="Calibri" pitchFamily="34" charset="-120"/>
              </a:rPr>
              <a:t>XGBoost</a:t>
            </a:r>
            <a:endParaRPr lang="en-US" sz="1400" dirty="0"/>
          </a:p>
        </p:txBody>
      </p:sp>
      <p:sp>
        <p:nvSpPr>
          <p:cNvPr id="16" name="Text 14"/>
          <p:cNvSpPr/>
          <p:nvPr/>
        </p:nvSpPr>
        <p:spPr>
          <a:xfrm>
            <a:off x="4663440" y="1828800"/>
            <a:ext cx="1828800" cy="365760"/>
          </a:xfrm>
          <a:prstGeom prst="rect">
            <a:avLst/>
          </a:prstGeom>
          <a:noFill/>
          <a:ln/>
        </p:spPr>
        <p:txBody>
          <a:bodyPr wrap="square" rtlCol="0" anchor="ctr"/>
          <a:lstStyle/>
          <a:p>
            <a:pPr algn="ctr" indent="0" marL="0">
              <a:buNone/>
            </a:pPr>
            <a:r>
              <a:rPr lang="en-US" sz="1100" dirty="0">
                <a:solidFill>
                  <a:srgbClr val="64748B"/>
                </a:solidFill>
                <a:latin typeface="Calibri" pitchFamily="34" charset="0"/>
                <a:ea typeface="Calibri" pitchFamily="34" charset="-122"/>
                <a:cs typeface="Calibri" pitchFamily="34" charset="-120"/>
              </a:rPr>
              <a:t>Gradient boosting</a:t>
            </a:r>
            <a:endParaRPr lang="en-US" sz="1100" dirty="0"/>
          </a:p>
        </p:txBody>
      </p:sp>
      <p:sp>
        <p:nvSpPr>
          <p:cNvPr id="17" name="Shape 15"/>
          <p:cNvSpPr/>
          <p:nvPr/>
        </p:nvSpPr>
        <p:spPr>
          <a:xfrm>
            <a:off x="6766560" y="1188720"/>
            <a:ext cx="1828800" cy="1280160"/>
          </a:xfrm>
          <a:prstGeom prst="rect">
            <a:avLst/>
          </a:prstGeom>
          <a:solidFill>
            <a:srgbClr val="F1F5F9"/>
          </a:solidFill>
          <a:ln/>
        </p:spPr>
      </p:sp>
      <p:sp>
        <p:nvSpPr>
          <p:cNvPr id="18" name="Shape 16"/>
          <p:cNvSpPr/>
          <p:nvPr/>
        </p:nvSpPr>
        <p:spPr>
          <a:xfrm>
            <a:off x="6766560" y="1188720"/>
            <a:ext cx="1828800" cy="54864"/>
          </a:xfrm>
          <a:prstGeom prst="rect">
            <a:avLst/>
          </a:prstGeom>
          <a:solidFill>
            <a:srgbClr val="8B5CF6"/>
          </a:solidFill>
          <a:ln/>
        </p:spPr>
      </p:sp>
      <p:sp>
        <p:nvSpPr>
          <p:cNvPr id="19" name="Text 17"/>
          <p:cNvSpPr/>
          <p:nvPr/>
        </p:nvSpPr>
        <p:spPr>
          <a:xfrm>
            <a:off x="6766560" y="1463040"/>
            <a:ext cx="1828800" cy="365760"/>
          </a:xfrm>
          <a:prstGeom prst="rect">
            <a:avLst/>
          </a:prstGeom>
          <a:noFill/>
          <a:ln/>
        </p:spPr>
        <p:txBody>
          <a:bodyPr wrap="square" rtlCol="0" anchor="ctr"/>
          <a:lstStyle/>
          <a:p>
            <a:pPr algn="ctr" indent="0" marL="0">
              <a:buNone/>
            </a:pPr>
            <a:r>
              <a:rPr lang="en-US" sz="1400" b="1" dirty="0">
                <a:solidFill>
                  <a:srgbClr val="1E293B"/>
                </a:solidFill>
                <a:latin typeface="Calibri" pitchFamily="34" charset="0"/>
                <a:ea typeface="Calibri" pitchFamily="34" charset="-122"/>
                <a:cs typeface="Calibri" pitchFamily="34" charset="-120"/>
              </a:rPr>
              <a:t>Pandas</a:t>
            </a:r>
            <a:endParaRPr lang="en-US" sz="1400" dirty="0"/>
          </a:p>
        </p:txBody>
      </p:sp>
      <p:sp>
        <p:nvSpPr>
          <p:cNvPr id="20" name="Text 18"/>
          <p:cNvSpPr/>
          <p:nvPr/>
        </p:nvSpPr>
        <p:spPr>
          <a:xfrm>
            <a:off x="6766560" y="1828800"/>
            <a:ext cx="1828800" cy="365760"/>
          </a:xfrm>
          <a:prstGeom prst="rect">
            <a:avLst/>
          </a:prstGeom>
          <a:noFill/>
          <a:ln/>
        </p:spPr>
        <p:txBody>
          <a:bodyPr wrap="square" rtlCol="0" anchor="ctr"/>
          <a:lstStyle/>
          <a:p>
            <a:pPr algn="ctr" indent="0" marL="0">
              <a:buNone/>
            </a:pPr>
            <a:r>
              <a:rPr lang="en-US" sz="1100" dirty="0">
                <a:solidFill>
                  <a:srgbClr val="64748B"/>
                </a:solidFill>
                <a:latin typeface="Calibri" pitchFamily="34" charset="0"/>
                <a:ea typeface="Calibri" pitchFamily="34" charset="-122"/>
                <a:cs typeface="Calibri" pitchFamily="34" charset="-120"/>
              </a:rPr>
              <a:t>Data manipulation</a:t>
            </a:r>
            <a:endParaRPr lang="en-US" sz="1100" dirty="0"/>
          </a:p>
        </p:txBody>
      </p:sp>
      <p:sp>
        <p:nvSpPr>
          <p:cNvPr id="21" name="Shape 19"/>
          <p:cNvSpPr/>
          <p:nvPr/>
        </p:nvSpPr>
        <p:spPr>
          <a:xfrm>
            <a:off x="457200" y="2834640"/>
            <a:ext cx="1828800" cy="1280160"/>
          </a:xfrm>
          <a:prstGeom prst="rect">
            <a:avLst/>
          </a:prstGeom>
          <a:solidFill>
            <a:srgbClr val="F1F5F9"/>
          </a:solidFill>
          <a:ln/>
        </p:spPr>
      </p:sp>
      <p:sp>
        <p:nvSpPr>
          <p:cNvPr id="22" name="Shape 20"/>
          <p:cNvSpPr/>
          <p:nvPr/>
        </p:nvSpPr>
        <p:spPr>
          <a:xfrm>
            <a:off x="457200" y="2834640"/>
            <a:ext cx="1828800" cy="54864"/>
          </a:xfrm>
          <a:prstGeom prst="rect">
            <a:avLst/>
          </a:prstGeom>
          <a:solidFill>
            <a:srgbClr val="0D9488"/>
          </a:solidFill>
          <a:ln/>
        </p:spPr>
      </p:sp>
      <p:sp>
        <p:nvSpPr>
          <p:cNvPr id="23" name="Text 21"/>
          <p:cNvSpPr/>
          <p:nvPr/>
        </p:nvSpPr>
        <p:spPr>
          <a:xfrm>
            <a:off x="457200" y="3108960"/>
            <a:ext cx="1828800" cy="365760"/>
          </a:xfrm>
          <a:prstGeom prst="rect">
            <a:avLst/>
          </a:prstGeom>
          <a:noFill/>
          <a:ln/>
        </p:spPr>
        <p:txBody>
          <a:bodyPr wrap="square" rtlCol="0" anchor="ctr"/>
          <a:lstStyle/>
          <a:p>
            <a:pPr algn="ctr" indent="0" marL="0">
              <a:buNone/>
            </a:pPr>
            <a:r>
              <a:rPr lang="en-US" sz="1400" b="1" dirty="0">
                <a:solidFill>
                  <a:srgbClr val="1E293B"/>
                </a:solidFill>
                <a:latin typeface="Calibri" pitchFamily="34" charset="0"/>
                <a:ea typeface="Calibri" pitchFamily="34" charset="-122"/>
                <a:cs typeface="Calibri" pitchFamily="34" charset="-120"/>
              </a:rPr>
              <a:t>NumPy</a:t>
            </a:r>
            <a:endParaRPr lang="en-US" sz="1400" dirty="0"/>
          </a:p>
        </p:txBody>
      </p:sp>
      <p:sp>
        <p:nvSpPr>
          <p:cNvPr id="24" name="Text 22"/>
          <p:cNvSpPr/>
          <p:nvPr/>
        </p:nvSpPr>
        <p:spPr>
          <a:xfrm>
            <a:off x="457200" y="3474720"/>
            <a:ext cx="1828800" cy="365760"/>
          </a:xfrm>
          <a:prstGeom prst="rect">
            <a:avLst/>
          </a:prstGeom>
          <a:noFill/>
          <a:ln/>
        </p:spPr>
        <p:txBody>
          <a:bodyPr wrap="square" rtlCol="0" anchor="ctr"/>
          <a:lstStyle/>
          <a:p>
            <a:pPr algn="ctr" indent="0" marL="0">
              <a:buNone/>
            </a:pPr>
            <a:r>
              <a:rPr lang="en-US" sz="1100" dirty="0">
                <a:solidFill>
                  <a:srgbClr val="64748B"/>
                </a:solidFill>
                <a:latin typeface="Calibri" pitchFamily="34" charset="0"/>
                <a:ea typeface="Calibri" pitchFamily="34" charset="-122"/>
                <a:cs typeface="Calibri" pitchFamily="34" charset="-120"/>
              </a:rPr>
              <a:t>Numerical computing</a:t>
            </a:r>
            <a:endParaRPr lang="en-US" sz="1100" dirty="0"/>
          </a:p>
        </p:txBody>
      </p:sp>
      <p:sp>
        <p:nvSpPr>
          <p:cNvPr id="25" name="Shape 23"/>
          <p:cNvSpPr/>
          <p:nvPr/>
        </p:nvSpPr>
        <p:spPr>
          <a:xfrm>
            <a:off x="2560320" y="2834640"/>
            <a:ext cx="1828800" cy="1280160"/>
          </a:xfrm>
          <a:prstGeom prst="rect">
            <a:avLst/>
          </a:prstGeom>
          <a:solidFill>
            <a:srgbClr val="F1F5F9"/>
          </a:solidFill>
          <a:ln/>
        </p:spPr>
      </p:sp>
      <p:sp>
        <p:nvSpPr>
          <p:cNvPr id="26" name="Shape 24"/>
          <p:cNvSpPr/>
          <p:nvPr/>
        </p:nvSpPr>
        <p:spPr>
          <a:xfrm>
            <a:off x="2560320" y="2834640"/>
            <a:ext cx="1828800" cy="54864"/>
          </a:xfrm>
          <a:prstGeom prst="rect">
            <a:avLst/>
          </a:prstGeom>
          <a:solidFill>
            <a:srgbClr val="E94560"/>
          </a:solidFill>
          <a:ln/>
        </p:spPr>
      </p:sp>
      <p:sp>
        <p:nvSpPr>
          <p:cNvPr id="27" name="Text 25"/>
          <p:cNvSpPr/>
          <p:nvPr/>
        </p:nvSpPr>
        <p:spPr>
          <a:xfrm>
            <a:off x="2560320" y="3108960"/>
            <a:ext cx="1828800" cy="365760"/>
          </a:xfrm>
          <a:prstGeom prst="rect">
            <a:avLst/>
          </a:prstGeom>
          <a:noFill/>
          <a:ln/>
        </p:spPr>
        <p:txBody>
          <a:bodyPr wrap="square" rtlCol="0" anchor="ctr"/>
          <a:lstStyle/>
          <a:p>
            <a:pPr algn="ctr" indent="0" marL="0">
              <a:buNone/>
            </a:pPr>
            <a:r>
              <a:rPr lang="en-US" sz="1400" b="1" dirty="0">
                <a:solidFill>
                  <a:srgbClr val="1E293B"/>
                </a:solidFill>
                <a:latin typeface="Calibri" pitchFamily="34" charset="0"/>
                <a:ea typeface="Calibri" pitchFamily="34" charset="-122"/>
                <a:cs typeface="Calibri" pitchFamily="34" charset="-120"/>
              </a:rPr>
              <a:t>Matplotlib</a:t>
            </a:r>
            <a:endParaRPr lang="en-US" sz="1400" dirty="0"/>
          </a:p>
        </p:txBody>
      </p:sp>
      <p:sp>
        <p:nvSpPr>
          <p:cNvPr id="28" name="Text 26"/>
          <p:cNvSpPr/>
          <p:nvPr/>
        </p:nvSpPr>
        <p:spPr>
          <a:xfrm>
            <a:off x="2560320" y="3474720"/>
            <a:ext cx="1828800" cy="365760"/>
          </a:xfrm>
          <a:prstGeom prst="rect">
            <a:avLst/>
          </a:prstGeom>
          <a:noFill/>
          <a:ln/>
        </p:spPr>
        <p:txBody>
          <a:bodyPr wrap="square" rtlCol="0" anchor="ctr"/>
          <a:lstStyle/>
          <a:p>
            <a:pPr algn="ctr" indent="0" marL="0">
              <a:buNone/>
            </a:pPr>
            <a:r>
              <a:rPr lang="en-US" sz="1100" dirty="0">
                <a:solidFill>
                  <a:srgbClr val="64748B"/>
                </a:solidFill>
                <a:latin typeface="Calibri" pitchFamily="34" charset="0"/>
                <a:ea typeface="Calibri" pitchFamily="34" charset="-122"/>
                <a:cs typeface="Calibri" pitchFamily="34" charset="-120"/>
              </a:rPr>
              <a:t>Visualization</a:t>
            </a:r>
            <a:endParaRPr lang="en-US" sz="1100" dirty="0"/>
          </a:p>
        </p:txBody>
      </p:sp>
      <p:sp>
        <p:nvSpPr>
          <p:cNvPr id="29" name="Shape 27"/>
          <p:cNvSpPr/>
          <p:nvPr/>
        </p:nvSpPr>
        <p:spPr>
          <a:xfrm>
            <a:off x="4663440" y="2834640"/>
            <a:ext cx="1828800" cy="1280160"/>
          </a:xfrm>
          <a:prstGeom prst="rect">
            <a:avLst/>
          </a:prstGeom>
          <a:solidFill>
            <a:srgbClr val="F1F5F9"/>
          </a:solidFill>
          <a:ln/>
        </p:spPr>
      </p:sp>
      <p:sp>
        <p:nvSpPr>
          <p:cNvPr id="30" name="Shape 28"/>
          <p:cNvSpPr/>
          <p:nvPr/>
        </p:nvSpPr>
        <p:spPr>
          <a:xfrm>
            <a:off x="4663440" y="2834640"/>
            <a:ext cx="1828800" cy="54864"/>
          </a:xfrm>
          <a:prstGeom prst="rect">
            <a:avLst/>
          </a:prstGeom>
          <a:solidFill>
            <a:srgbClr val="3B82F6"/>
          </a:solidFill>
          <a:ln/>
        </p:spPr>
      </p:sp>
      <p:sp>
        <p:nvSpPr>
          <p:cNvPr id="31" name="Text 29"/>
          <p:cNvSpPr/>
          <p:nvPr/>
        </p:nvSpPr>
        <p:spPr>
          <a:xfrm>
            <a:off x="4663440" y="3108960"/>
            <a:ext cx="1828800" cy="365760"/>
          </a:xfrm>
          <a:prstGeom prst="rect">
            <a:avLst/>
          </a:prstGeom>
          <a:noFill/>
          <a:ln/>
        </p:spPr>
        <p:txBody>
          <a:bodyPr wrap="square" rtlCol="0" anchor="ctr"/>
          <a:lstStyle/>
          <a:p>
            <a:pPr algn="ctr" indent="0" marL="0">
              <a:buNone/>
            </a:pPr>
            <a:r>
              <a:rPr lang="en-US" sz="1400" b="1" dirty="0">
                <a:solidFill>
                  <a:srgbClr val="1E293B"/>
                </a:solidFill>
                <a:latin typeface="Calibri" pitchFamily="34" charset="0"/>
                <a:ea typeface="Calibri" pitchFamily="34" charset="-122"/>
                <a:cs typeface="Calibri" pitchFamily="34" charset="-120"/>
              </a:rPr>
              <a:t>Seaborn</a:t>
            </a:r>
            <a:endParaRPr lang="en-US" sz="1400" dirty="0"/>
          </a:p>
        </p:txBody>
      </p:sp>
      <p:sp>
        <p:nvSpPr>
          <p:cNvPr id="32" name="Text 30"/>
          <p:cNvSpPr/>
          <p:nvPr/>
        </p:nvSpPr>
        <p:spPr>
          <a:xfrm>
            <a:off x="4663440" y="3474720"/>
            <a:ext cx="1828800" cy="365760"/>
          </a:xfrm>
          <a:prstGeom prst="rect">
            <a:avLst/>
          </a:prstGeom>
          <a:noFill/>
          <a:ln/>
        </p:spPr>
        <p:txBody>
          <a:bodyPr wrap="square" rtlCol="0" anchor="ctr"/>
          <a:lstStyle/>
          <a:p>
            <a:pPr algn="ctr" indent="0" marL="0">
              <a:buNone/>
            </a:pPr>
            <a:r>
              <a:rPr lang="en-US" sz="1100" dirty="0">
                <a:solidFill>
                  <a:srgbClr val="64748B"/>
                </a:solidFill>
                <a:latin typeface="Calibri" pitchFamily="34" charset="0"/>
                <a:ea typeface="Calibri" pitchFamily="34" charset="-122"/>
                <a:cs typeface="Calibri" pitchFamily="34" charset="-120"/>
              </a:rPr>
              <a:t>Statistical plots</a:t>
            </a:r>
            <a:endParaRPr lang="en-US" sz="1100" dirty="0"/>
          </a:p>
        </p:txBody>
      </p:sp>
      <p:sp>
        <p:nvSpPr>
          <p:cNvPr id="33" name="Shape 31"/>
          <p:cNvSpPr/>
          <p:nvPr/>
        </p:nvSpPr>
        <p:spPr>
          <a:xfrm>
            <a:off x="6766560" y="2834640"/>
            <a:ext cx="1828800" cy="1280160"/>
          </a:xfrm>
          <a:prstGeom prst="rect">
            <a:avLst/>
          </a:prstGeom>
          <a:solidFill>
            <a:srgbClr val="F1F5F9"/>
          </a:solidFill>
          <a:ln/>
        </p:spPr>
      </p:sp>
      <p:sp>
        <p:nvSpPr>
          <p:cNvPr id="34" name="Shape 32"/>
          <p:cNvSpPr/>
          <p:nvPr/>
        </p:nvSpPr>
        <p:spPr>
          <a:xfrm>
            <a:off x="6766560" y="2834640"/>
            <a:ext cx="1828800" cy="54864"/>
          </a:xfrm>
          <a:prstGeom prst="rect">
            <a:avLst/>
          </a:prstGeom>
          <a:solidFill>
            <a:srgbClr val="F59E0B"/>
          </a:solidFill>
          <a:ln/>
        </p:spPr>
      </p:sp>
      <p:sp>
        <p:nvSpPr>
          <p:cNvPr id="35" name="Text 33"/>
          <p:cNvSpPr/>
          <p:nvPr/>
        </p:nvSpPr>
        <p:spPr>
          <a:xfrm>
            <a:off x="6766560" y="3108960"/>
            <a:ext cx="1828800" cy="365760"/>
          </a:xfrm>
          <a:prstGeom prst="rect">
            <a:avLst/>
          </a:prstGeom>
          <a:noFill/>
          <a:ln/>
        </p:spPr>
        <p:txBody>
          <a:bodyPr wrap="square" rtlCol="0" anchor="ctr"/>
          <a:lstStyle/>
          <a:p>
            <a:pPr algn="ctr" indent="0" marL="0">
              <a:buNone/>
            </a:pPr>
            <a:r>
              <a:rPr lang="en-US" sz="1400" b="1" dirty="0">
                <a:solidFill>
                  <a:srgbClr val="1E293B"/>
                </a:solidFill>
                <a:latin typeface="Calibri" pitchFamily="34" charset="0"/>
                <a:ea typeface="Calibri" pitchFamily="34" charset="-122"/>
                <a:cs typeface="Calibri" pitchFamily="34" charset="-120"/>
              </a:rPr>
              <a:t>Jupyter</a:t>
            </a:r>
            <a:endParaRPr lang="en-US" sz="1400" dirty="0"/>
          </a:p>
        </p:txBody>
      </p:sp>
      <p:sp>
        <p:nvSpPr>
          <p:cNvPr id="36" name="Text 34"/>
          <p:cNvSpPr/>
          <p:nvPr/>
        </p:nvSpPr>
        <p:spPr>
          <a:xfrm>
            <a:off x="6766560" y="3474720"/>
            <a:ext cx="1828800" cy="365760"/>
          </a:xfrm>
          <a:prstGeom prst="rect">
            <a:avLst/>
          </a:prstGeom>
          <a:noFill/>
          <a:ln/>
        </p:spPr>
        <p:txBody>
          <a:bodyPr wrap="square" rtlCol="0" anchor="ctr"/>
          <a:lstStyle/>
          <a:p>
            <a:pPr algn="ctr" indent="0" marL="0">
              <a:buNone/>
            </a:pPr>
            <a:r>
              <a:rPr lang="en-US" sz="1100" dirty="0">
                <a:solidFill>
                  <a:srgbClr val="64748B"/>
                </a:solidFill>
                <a:latin typeface="Calibri" pitchFamily="34" charset="0"/>
                <a:ea typeface="Calibri" pitchFamily="34" charset="-122"/>
                <a:cs typeface="Calibri" pitchFamily="34" charset="-120"/>
              </a:rPr>
              <a:t>Notebook IDE</a:t>
            </a:r>
            <a:endParaRPr lang="en-US" sz="1100" dirty="0"/>
          </a:p>
        </p:txBody>
      </p:sp>
      <p:sp>
        <p:nvSpPr>
          <p:cNvPr id="37" name="Text 35"/>
          <p:cNvSpPr/>
          <p:nvPr/>
        </p:nvSpPr>
        <p:spPr>
          <a:xfrm>
            <a:off x="7772400" y="4754880"/>
            <a:ext cx="1097280" cy="274320"/>
          </a:xfrm>
          <a:prstGeom prst="rect">
            <a:avLst/>
          </a:prstGeom>
          <a:noFill/>
          <a:ln/>
        </p:spPr>
        <p:txBody>
          <a:bodyPr wrap="square"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4 / 10</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E94560"/>
          </a:solidFill>
          <a:ln/>
        </p:spPr>
      </p:sp>
      <p:sp>
        <p:nvSpPr>
          <p:cNvPr id="3" name="Text 1"/>
          <p:cNvSpPr/>
          <p:nvPr/>
        </p:nvSpPr>
        <p:spPr>
          <a:xfrm>
            <a:off x="457200" y="274320"/>
            <a:ext cx="6400800" cy="548640"/>
          </a:xfrm>
          <a:prstGeom prst="rect">
            <a:avLst/>
          </a:prstGeom>
          <a:noFill/>
          <a:ln/>
        </p:spPr>
        <p:txBody>
          <a:bodyPr wrap="square" rtlCol="0" anchor="ctr"/>
          <a:lstStyle/>
          <a:p>
            <a:pPr indent="0" marL="0">
              <a:buNone/>
            </a:pPr>
            <a:r>
              <a:rPr lang="en-US" sz="2800" b="1" dirty="0">
                <a:solidFill>
                  <a:srgbClr val="1E293B"/>
                </a:solidFill>
                <a:latin typeface="Georgia" pitchFamily="34" charset="0"/>
                <a:ea typeface="Georgia" pitchFamily="34" charset="-122"/>
                <a:cs typeface="Georgia" pitchFamily="34" charset="-120"/>
              </a:rPr>
              <a:t>DETAILED TOOL EXPLANATION</a:t>
            </a:r>
            <a:endParaRPr lang="en-US" sz="2800" dirty="0"/>
          </a:p>
        </p:txBody>
      </p:sp>
      <p:sp>
        <p:nvSpPr>
          <p:cNvPr id="4" name="Shape 2"/>
          <p:cNvSpPr/>
          <p:nvPr/>
        </p:nvSpPr>
        <p:spPr>
          <a:xfrm>
            <a:off x="457200" y="822960"/>
            <a:ext cx="1371600" cy="36576"/>
          </a:xfrm>
          <a:prstGeom prst="rect">
            <a:avLst/>
          </a:prstGeom>
          <a:solidFill>
            <a:srgbClr val="E94560"/>
          </a:solidFill>
          <a:ln/>
        </p:spPr>
      </p:sp>
      <p:sp>
        <p:nvSpPr>
          <p:cNvPr id="5" name="Shape 3"/>
          <p:cNvSpPr/>
          <p:nvPr/>
        </p:nvSpPr>
        <p:spPr>
          <a:xfrm>
            <a:off x="457200" y="1097280"/>
            <a:ext cx="8229600" cy="777240"/>
          </a:xfrm>
          <a:prstGeom prst="rect">
            <a:avLst/>
          </a:prstGeom>
          <a:solidFill>
            <a:srgbClr val="F1F5F9"/>
          </a:solidFill>
          <a:ln/>
        </p:spPr>
      </p:sp>
      <p:sp>
        <p:nvSpPr>
          <p:cNvPr id="6" name="Text 4"/>
          <p:cNvSpPr/>
          <p:nvPr/>
        </p:nvSpPr>
        <p:spPr>
          <a:xfrm>
            <a:off x="640080" y="1143000"/>
            <a:ext cx="2286000" cy="320040"/>
          </a:xfrm>
          <a:prstGeom prst="rect">
            <a:avLst/>
          </a:prstGeom>
          <a:noFill/>
          <a:ln/>
        </p:spPr>
        <p:txBody>
          <a:bodyPr wrap="square" rtlCol="0" anchor="ctr"/>
          <a:lstStyle/>
          <a:p>
            <a:pPr indent="0" marL="0">
              <a:buNone/>
            </a:pPr>
            <a:r>
              <a:rPr lang="en-US" sz="1300" b="1" dirty="0">
                <a:solidFill>
                  <a:srgbClr val="E94560"/>
                </a:solidFill>
                <a:latin typeface="Calibri" pitchFamily="34" charset="0"/>
                <a:ea typeface="Calibri" pitchFamily="34" charset="-122"/>
                <a:cs typeface="Calibri" pitchFamily="34" charset="-120"/>
              </a:rPr>
              <a:t>Scikit-learn</a:t>
            </a:r>
            <a:endParaRPr lang="en-US" sz="1300" dirty="0"/>
          </a:p>
        </p:txBody>
      </p:sp>
      <p:sp>
        <p:nvSpPr>
          <p:cNvPr id="7" name="Text 5"/>
          <p:cNvSpPr/>
          <p:nvPr/>
        </p:nvSpPr>
        <p:spPr>
          <a:xfrm>
            <a:off x="640080" y="1417320"/>
            <a:ext cx="7863840" cy="411480"/>
          </a:xfrm>
          <a:prstGeom prst="rect">
            <a:avLst/>
          </a:prstGeom>
          <a:noFill/>
          <a:ln/>
        </p:spPr>
        <p:txBody>
          <a:bodyPr wrap="square" rtlCol="0" anchor="ctr"/>
          <a:lstStyle/>
          <a:p>
            <a:pPr indent="0" marL="0">
              <a:buNone/>
            </a:pPr>
            <a:r>
              <a:rPr lang="en-US" sz="1050" dirty="0">
                <a:solidFill>
                  <a:srgbClr val="64748B"/>
                </a:solidFill>
                <a:latin typeface="Calibri" pitchFamily="34" charset="0"/>
                <a:ea typeface="Calibri" pitchFamily="34" charset="-122"/>
                <a:cs typeface="Calibri" pitchFamily="34" charset="-120"/>
              </a:rPr>
              <a:t>Provides implementations of Linear Regression, Random Forest, and Gradient Boosting regressors. Also used for train-test splitting, cross-validation, GridSearchCV, and evaluation metrics (R², RMSE, MAE).</a:t>
            </a:r>
            <a:endParaRPr lang="en-US" sz="1050" dirty="0"/>
          </a:p>
        </p:txBody>
      </p:sp>
      <p:sp>
        <p:nvSpPr>
          <p:cNvPr id="8" name="Shape 6"/>
          <p:cNvSpPr/>
          <p:nvPr/>
        </p:nvSpPr>
        <p:spPr>
          <a:xfrm>
            <a:off x="457200" y="2057400"/>
            <a:ext cx="8229600" cy="777240"/>
          </a:xfrm>
          <a:prstGeom prst="rect">
            <a:avLst/>
          </a:prstGeom>
          <a:solidFill>
            <a:srgbClr val="F1F5F9"/>
          </a:solidFill>
          <a:ln/>
        </p:spPr>
      </p:sp>
      <p:sp>
        <p:nvSpPr>
          <p:cNvPr id="9" name="Text 7"/>
          <p:cNvSpPr/>
          <p:nvPr/>
        </p:nvSpPr>
        <p:spPr>
          <a:xfrm>
            <a:off x="640080" y="2103120"/>
            <a:ext cx="2286000" cy="320040"/>
          </a:xfrm>
          <a:prstGeom prst="rect">
            <a:avLst/>
          </a:prstGeom>
          <a:noFill/>
          <a:ln/>
        </p:spPr>
        <p:txBody>
          <a:bodyPr wrap="square" rtlCol="0" anchor="ctr"/>
          <a:lstStyle/>
          <a:p>
            <a:pPr indent="0" marL="0">
              <a:buNone/>
            </a:pPr>
            <a:r>
              <a:rPr lang="en-US" sz="1300" b="1" dirty="0">
                <a:solidFill>
                  <a:srgbClr val="E94560"/>
                </a:solidFill>
                <a:latin typeface="Calibri" pitchFamily="34" charset="0"/>
                <a:ea typeface="Calibri" pitchFamily="34" charset="-122"/>
                <a:cs typeface="Calibri" pitchFamily="34" charset="-120"/>
              </a:rPr>
              <a:t>XGBoost</a:t>
            </a:r>
            <a:endParaRPr lang="en-US" sz="1300" dirty="0"/>
          </a:p>
        </p:txBody>
      </p:sp>
      <p:sp>
        <p:nvSpPr>
          <p:cNvPr id="10" name="Text 8"/>
          <p:cNvSpPr/>
          <p:nvPr/>
        </p:nvSpPr>
        <p:spPr>
          <a:xfrm>
            <a:off x="640080" y="2377440"/>
            <a:ext cx="7863840" cy="411480"/>
          </a:xfrm>
          <a:prstGeom prst="rect">
            <a:avLst/>
          </a:prstGeom>
          <a:noFill/>
          <a:ln/>
        </p:spPr>
        <p:txBody>
          <a:bodyPr wrap="square" rtlCol="0" anchor="ctr"/>
          <a:lstStyle/>
          <a:p>
            <a:pPr indent="0" marL="0">
              <a:buNone/>
            </a:pPr>
            <a:r>
              <a:rPr lang="en-US" sz="1050" dirty="0">
                <a:solidFill>
                  <a:srgbClr val="64748B"/>
                </a:solidFill>
                <a:latin typeface="Calibri" pitchFamily="34" charset="0"/>
                <a:ea typeface="Calibri" pitchFamily="34" charset="-122"/>
                <a:cs typeface="Calibri" pitchFamily="34" charset="-120"/>
              </a:rPr>
              <a:t>Extreme Gradient Boosting library offering regularized boosting with tree pruning, parallel processing, and built-in cross-validation. Handles missing values natively and provides feature importance ranking.</a:t>
            </a:r>
            <a:endParaRPr lang="en-US" sz="1050" dirty="0"/>
          </a:p>
        </p:txBody>
      </p:sp>
      <p:sp>
        <p:nvSpPr>
          <p:cNvPr id="11" name="Shape 9"/>
          <p:cNvSpPr/>
          <p:nvPr/>
        </p:nvSpPr>
        <p:spPr>
          <a:xfrm>
            <a:off x="457200" y="3017520"/>
            <a:ext cx="8229600" cy="777240"/>
          </a:xfrm>
          <a:prstGeom prst="rect">
            <a:avLst/>
          </a:prstGeom>
          <a:solidFill>
            <a:srgbClr val="F1F5F9"/>
          </a:solidFill>
          <a:ln/>
        </p:spPr>
      </p:sp>
      <p:sp>
        <p:nvSpPr>
          <p:cNvPr id="12" name="Text 10"/>
          <p:cNvSpPr/>
          <p:nvPr/>
        </p:nvSpPr>
        <p:spPr>
          <a:xfrm>
            <a:off x="640080" y="3063240"/>
            <a:ext cx="2286000" cy="320040"/>
          </a:xfrm>
          <a:prstGeom prst="rect">
            <a:avLst/>
          </a:prstGeom>
          <a:noFill/>
          <a:ln/>
        </p:spPr>
        <p:txBody>
          <a:bodyPr wrap="square" rtlCol="0" anchor="ctr"/>
          <a:lstStyle/>
          <a:p>
            <a:pPr indent="0" marL="0">
              <a:buNone/>
            </a:pPr>
            <a:r>
              <a:rPr lang="en-US" sz="1300" b="1" dirty="0">
                <a:solidFill>
                  <a:srgbClr val="E94560"/>
                </a:solidFill>
                <a:latin typeface="Calibri" pitchFamily="34" charset="0"/>
                <a:ea typeface="Calibri" pitchFamily="34" charset="-122"/>
                <a:cs typeface="Calibri" pitchFamily="34" charset="-120"/>
              </a:rPr>
              <a:t>Pandas &amp; NumPy</a:t>
            </a:r>
            <a:endParaRPr lang="en-US" sz="1300" dirty="0"/>
          </a:p>
        </p:txBody>
      </p:sp>
      <p:sp>
        <p:nvSpPr>
          <p:cNvPr id="13" name="Text 11"/>
          <p:cNvSpPr/>
          <p:nvPr/>
        </p:nvSpPr>
        <p:spPr>
          <a:xfrm>
            <a:off x="640080" y="3337560"/>
            <a:ext cx="7863840" cy="411480"/>
          </a:xfrm>
          <a:prstGeom prst="rect">
            <a:avLst/>
          </a:prstGeom>
          <a:noFill/>
          <a:ln/>
        </p:spPr>
        <p:txBody>
          <a:bodyPr wrap="square" rtlCol="0" anchor="ctr"/>
          <a:lstStyle/>
          <a:p>
            <a:pPr indent="0" marL="0">
              <a:buNone/>
            </a:pPr>
            <a:r>
              <a:rPr lang="en-US" sz="1050" dirty="0">
                <a:solidFill>
                  <a:srgbClr val="64748B"/>
                </a:solidFill>
                <a:latin typeface="Calibri" pitchFamily="34" charset="0"/>
                <a:ea typeface="Calibri" pitchFamily="34" charset="-122"/>
                <a:cs typeface="Calibri" pitchFamily="34" charset="-120"/>
              </a:rPr>
              <a:t>Pandas provides DataFrame structures for data cleaning, merging, and transformation. NumPy enables fast array operations, mathematical functions, and serves as the computational backbone for all libraries.</a:t>
            </a:r>
            <a:endParaRPr lang="en-US" sz="1050" dirty="0"/>
          </a:p>
        </p:txBody>
      </p:sp>
      <p:sp>
        <p:nvSpPr>
          <p:cNvPr id="14" name="Shape 12"/>
          <p:cNvSpPr/>
          <p:nvPr/>
        </p:nvSpPr>
        <p:spPr>
          <a:xfrm>
            <a:off x="457200" y="3977640"/>
            <a:ext cx="8229600" cy="777240"/>
          </a:xfrm>
          <a:prstGeom prst="rect">
            <a:avLst/>
          </a:prstGeom>
          <a:solidFill>
            <a:srgbClr val="F1F5F9"/>
          </a:solidFill>
          <a:ln/>
        </p:spPr>
      </p:sp>
      <p:sp>
        <p:nvSpPr>
          <p:cNvPr id="15" name="Text 13"/>
          <p:cNvSpPr/>
          <p:nvPr/>
        </p:nvSpPr>
        <p:spPr>
          <a:xfrm>
            <a:off x="640080" y="4023360"/>
            <a:ext cx="2286000" cy="320040"/>
          </a:xfrm>
          <a:prstGeom prst="rect">
            <a:avLst/>
          </a:prstGeom>
          <a:noFill/>
          <a:ln/>
        </p:spPr>
        <p:txBody>
          <a:bodyPr wrap="square" rtlCol="0" anchor="ctr"/>
          <a:lstStyle/>
          <a:p>
            <a:pPr indent="0" marL="0">
              <a:buNone/>
            </a:pPr>
            <a:r>
              <a:rPr lang="en-US" sz="1300" b="1" dirty="0">
                <a:solidFill>
                  <a:srgbClr val="E94560"/>
                </a:solidFill>
                <a:latin typeface="Calibri" pitchFamily="34" charset="0"/>
                <a:ea typeface="Calibri" pitchFamily="34" charset="-122"/>
                <a:cs typeface="Calibri" pitchFamily="34" charset="-120"/>
              </a:rPr>
              <a:t>Matplotlib &amp; Seaborn</a:t>
            </a:r>
            <a:endParaRPr lang="en-US" sz="1300" dirty="0"/>
          </a:p>
        </p:txBody>
      </p:sp>
      <p:sp>
        <p:nvSpPr>
          <p:cNvPr id="16" name="Text 14"/>
          <p:cNvSpPr/>
          <p:nvPr/>
        </p:nvSpPr>
        <p:spPr>
          <a:xfrm>
            <a:off x="640080" y="4297680"/>
            <a:ext cx="7863840" cy="411480"/>
          </a:xfrm>
          <a:prstGeom prst="rect">
            <a:avLst/>
          </a:prstGeom>
          <a:noFill/>
          <a:ln/>
        </p:spPr>
        <p:txBody>
          <a:bodyPr wrap="square" rtlCol="0" anchor="ctr"/>
          <a:lstStyle/>
          <a:p>
            <a:pPr indent="0" marL="0">
              <a:buNone/>
            </a:pPr>
            <a:r>
              <a:rPr lang="en-US" sz="1050" dirty="0">
                <a:solidFill>
                  <a:srgbClr val="64748B"/>
                </a:solidFill>
                <a:latin typeface="Calibri" pitchFamily="34" charset="0"/>
                <a:ea typeface="Calibri" pitchFamily="34" charset="-122"/>
                <a:cs typeface="Calibri" pitchFamily="34" charset="-120"/>
              </a:rPr>
              <a:t>Matplotlib creates customizable plots (scatter, bar, histogram). Seaborn adds statistical visualizations like heatmaps for correlation matrices, distribution plots, and regression plots with confidence intervals.</a:t>
            </a:r>
            <a:endParaRPr lang="en-US" sz="1050" dirty="0"/>
          </a:p>
        </p:txBody>
      </p:sp>
      <p:sp>
        <p:nvSpPr>
          <p:cNvPr id="17" name="Text 15"/>
          <p:cNvSpPr/>
          <p:nvPr/>
        </p:nvSpPr>
        <p:spPr>
          <a:xfrm>
            <a:off x="7772400" y="4754880"/>
            <a:ext cx="1097280" cy="274320"/>
          </a:xfrm>
          <a:prstGeom prst="rect">
            <a:avLst/>
          </a:prstGeom>
          <a:noFill/>
          <a:ln/>
        </p:spPr>
        <p:txBody>
          <a:bodyPr wrap="square"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5 / 10</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E94560"/>
          </a:solidFill>
          <a:ln/>
        </p:spPr>
      </p:sp>
      <p:sp>
        <p:nvSpPr>
          <p:cNvPr id="3" name="Text 1"/>
          <p:cNvSpPr/>
          <p:nvPr/>
        </p:nvSpPr>
        <p:spPr>
          <a:xfrm>
            <a:off x="457200" y="274320"/>
            <a:ext cx="5486400" cy="548640"/>
          </a:xfrm>
          <a:prstGeom prst="rect">
            <a:avLst/>
          </a:prstGeom>
          <a:noFill/>
          <a:ln/>
        </p:spPr>
        <p:txBody>
          <a:bodyPr wrap="square" rtlCol="0" anchor="ctr"/>
          <a:lstStyle/>
          <a:p>
            <a:pPr indent="0" marL="0">
              <a:buNone/>
            </a:pPr>
            <a:r>
              <a:rPr lang="en-US" sz="2800" b="1" dirty="0">
                <a:solidFill>
                  <a:srgbClr val="1E293B"/>
                </a:solidFill>
                <a:latin typeface="Georgia" pitchFamily="34" charset="0"/>
                <a:ea typeface="Georgia" pitchFamily="34" charset="-122"/>
                <a:cs typeface="Georgia" pitchFamily="34" charset="-120"/>
              </a:rPr>
              <a:t>DATASET OVERVIEW</a:t>
            </a:r>
            <a:endParaRPr lang="en-US" sz="2800" dirty="0"/>
          </a:p>
        </p:txBody>
      </p:sp>
      <p:sp>
        <p:nvSpPr>
          <p:cNvPr id="4" name="Shape 2"/>
          <p:cNvSpPr/>
          <p:nvPr/>
        </p:nvSpPr>
        <p:spPr>
          <a:xfrm>
            <a:off x="457200" y="822960"/>
            <a:ext cx="1371600" cy="36576"/>
          </a:xfrm>
          <a:prstGeom prst="rect">
            <a:avLst/>
          </a:prstGeom>
          <a:solidFill>
            <a:srgbClr val="E94560"/>
          </a:solidFill>
          <a:ln/>
        </p:spPr>
      </p:sp>
      <p:sp>
        <p:nvSpPr>
          <p:cNvPr id="5" name="Text 3"/>
          <p:cNvSpPr/>
          <p:nvPr/>
        </p:nvSpPr>
        <p:spPr>
          <a:xfrm>
            <a:off x="457200" y="1097280"/>
            <a:ext cx="4572000" cy="365760"/>
          </a:xfrm>
          <a:prstGeom prst="rect">
            <a:avLst/>
          </a:prstGeom>
          <a:noFill/>
          <a:ln/>
        </p:spPr>
        <p:txBody>
          <a:bodyPr wrap="square" rtlCol="0" anchor="ctr"/>
          <a:lstStyle/>
          <a:p>
            <a:pPr indent="0" marL="0">
              <a:buNone/>
            </a:pPr>
            <a:r>
              <a:rPr lang="en-US" sz="1800" b="1" dirty="0">
                <a:solidFill>
                  <a:srgbClr val="1E293B"/>
                </a:solidFill>
                <a:latin typeface="Calibri" pitchFamily="34" charset="0"/>
                <a:ea typeface="Calibri" pitchFamily="34" charset="-122"/>
                <a:cs typeface="Calibri" pitchFamily="34" charset="-120"/>
              </a:rPr>
              <a:t>Ames Housing Dataset</a:t>
            </a:r>
            <a:endParaRPr lang="en-US" sz="1800" dirty="0"/>
          </a:p>
        </p:txBody>
      </p:sp>
      <p:sp>
        <p:nvSpPr>
          <p:cNvPr id="6" name="Text 4"/>
          <p:cNvSpPr/>
          <p:nvPr/>
        </p:nvSpPr>
        <p:spPr>
          <a:xfrm>
            <a:off x="457200" y="1463040"/>
            <a:ext cx="8229600" cy="548640"/>
          </a:xfrm>
          <a:prstGeom prst="rect">
            <a:avLst/>
          </a:prstGeom>
          <a:noFill/>
          <a:ln/>
        </p:spPr>
        <p:txBody>
          <a:bodyPr wrap="square" rtlCol="0" anchor="ctr"/>
          <a:lstStyle/>
          <a:p>
            <a:pPr indent="0" marL="0">
              <a:buNone/>
            </a:pPr>
            <a:r>
              <a:rPr lang="en-US" sz="1200" dirty="0">
                <a:solidFill>
                  <a:srgbClr val="64748B"/>
                </a:solidFill>
                <a:latin typeface="Calibri" pitchFamily="34" charset="0"/>
                <a:ea typeface="Calibri" pitchFamily="34" charset="-122"/>
                <a:cs typeface="Calibri" pitchFamily="34" charset="-120"/>
              </a:rPr>
              <a:t>Compiled by Dean De Cock for use in data science education. Contains 1,460 observations with 79 explanatory variables describing residential properties in Ames, Iowa.</a:t>
            </a:r>
            <a:endParaRPr lang="en-US" sz="1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2194560"/>
          <a:ext cx="8229600" cy="914400"/>
        </p:xfrm>
        <a:graphic>
          <a:graphicData uri="http://schemas.openxmlformats.org/drawingml/2006/table">
            <a:tbl>
              <a:tblPr/>
              <a:tblGrid>
                <a:gridCol w="2286000"/>
                <a:gridCol w="2286000"/>
                <a:gridCol w="3657600"/>
              </a:tblGrid>
              <a:tr h="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Feature</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3460"/>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Type</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3460"/>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Example</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3460"/>
                    </a:solidFill>
                  </a:tcPr>
                </a:tc>
              </a:tr>
              <a:tr h="0">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OverallQual</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Ordinal (1-10)</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Overall material quality</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GrLivArea</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Continuous</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Above ground living area (sq ft)</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r>
              <a:tr h="0">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GarageCars</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Discrete</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Garage capacity</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TotalBsmtSF</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Continuous</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Basement area (sq ft)</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r>
              <a:tr h="0">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YearBuilt</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Discrete</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Year of construction</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Neighborhood</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Categorical</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Physical location</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r>
              <a:tr h="0">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SalePrice</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Continuous</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Target variable ($)</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bl>
          </a:graphicData>
        </a:graphic>
      </p:graphicFrame>
      <p:sp>
        <p:nvSpPr>
          <p:cNvPr id="8" name="Text 5"/>
          <p:cNvSpPr/>
          <p:nvPr/>
        </p:nvSpPr>
        <p:spPr>
          <a:xfrm>
            <a:off x="7772400" y="4754880"/>
            <a:ext cx="1097280" cy="274320"/>
          </a:xfrm>
          <a:prstGeom prst="rect">
            <a:avLst/>
          </a:prstGeom>
          <a:noFill/>
          <a:ln/>
        </p:spPr>
        <p:txBody>
          <a:bodyPr wrap="square"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6 / 10</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E94560"/>
          </a:solidFill>
          <a:ln/>
        </p:spPr>
      </p:sp>
      <p:sp>
        <p:nvSpPr>
          <p:cNvPr id="3" name="Text 1"/>
          <p:cNvSpPr/>
          <p:nvPr/>
        </p:nvSpPr>
        <p:spPr>
          <a:xfrm>
            <a:off x="457200" y="274320"/>
            <a:ext cx="6400800" cy="548640"/>
          </a:xfrm>
          <a:prstGeom prst="rect">
            <a:avLst/>
          </a:prstGeom>
          <a:noFill/>
          <a:ln/>
        </p:spPr>
        <p:txBody>
          <a:bodyPr wrap="square" rtlCol="0" anchor="ctr"/>
          <a:lstStyle/>
          <a:p>
            <a:pPr indent="0" marL="0">
              <a:buNone/>
            </a:pPr>
            <a:r>
              <a:rPr lang="en-US" sz="2800" b="1" dirty="0">
                <a:solidFill>
                  <a:srgbClr val="1E293B"/>
                </a:solidFill>
                <a:latin typeface="Georgia" pitchFamily="34" charset="0"/>
                <a:ea typeface="Georgia" pitchFamily="34" charset="-122"/>
                <a:cs typeface="Georgia" pitchFamily="34" charset="-120"/>
              </a:rPr>
              <a:t>METHODOLOGY FLOWCHART</a:t>
            </a:r>
            <a:endParaRPr lang="en-US" sz="2800" dirty="0"/>
          </a:p>
        </p:txBody>
      </p:sp>
      <p:sp>
        <p:nvSpPr>
          <p:cNvPr id="4" name="Shape 2"/>
          <p:cNvSpPr/>
          <p:nvPr/>
        </p:nvSpPr>
        <p:spPr>
          <a:xfrm>
            <a:off x="457200" y="822960"/>
            <a:ext cx="1371600" cy="36576"/>
          </a:xfrm>
          <a:prstGeom prst="rect">
            <a:avLst/>
          </a:prstGeom>
          <a:solidFill>
            <a:srgbClr val="E94560"/>
          </a:solidFill>
          <a:ln/>
        </p:spPr>
      </p:sp>
      <p:sp>
        <p:nvSpPr>
          <p:cNvPr id="5" name="Shape 3"/>
          <p:cNvSpPr/>
          <p:nvPr/>
        </p:nvSpPr>
        <p:spPr>
          <a:xfrm>
            <a:off x="365760" y="1280160"/>
            <a:ext cx="1554480" cy="1005840"/>
          </a:xfrm>
          <a:prstGeom prst="rect">
            <a:avLst/>
          </a:prstGeom>
          <a:solidFill>
            <a:srgbClr val="3B82F6"/>
          </a:solidFill>
          <a:ln/>
        </p:spPr>
      </p:sp>
      <p:sp>
        <p:nvSpPr>
          <p:cNvPr id="6" name="Text 4"/>
          <p:cNvSpPr/>
          <p:nvPr/>
        </p:nvSpPr>
        <p:spPr>
          <a:xfrm>
            <a:off x="365760" y="1280160"/>
            <a:ext cx="1554480" cy="100584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Data</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Collection</a:t>
            </a:r>
            <a:endParaRPr lang="en-US" sz="1200" dirty="0"/>
          </a:p>
        </p:txBody>
      </p:sp>
      <p:sp>
        <p:nvSpPr>
          <p:cNvPr id="7" name="Shape 5"/>
          <p:cNvSpPr/>
          <p:nvPr/>
        </p:nvSpPr>
        <p:spPr>
          <a:xfrm>
            <a:off x="1920240" y="1783080"/>
            <a:ext cx="228600" cy="0"/>
          </a:xfrm>
          <a:prstGeom prst="line">
            <a:avLst/>
          </a:prstGeom>
          <a:noFill/>
          <a:ln w="25400">
            <a:solidFill>
              <a:srgbClr val="64748B"/>
            </a:solidFill>
            <a:prstDash val="solid"/>
          </a:ln>
        </p:spPr>
      </p:sp>
      <p:sp>
        <p:nvSpPr>
          <p:cNvPr id="8" name="Shape 6"/>
          <p:cNvSpPr/>
          <p:nvPr/>
        </p:nvSpPr>
        <p:spPr>
          <a:xfrm>
            <a:off x="2148840" y="1280160"/>
            <a:ext cx="1554480" cy="1005840"/>
          </a:xfrm>
          <a:prstGeom prst="rect">
            <a:avLst/>
          </a:prstGeom>
          <a:solidFill>
            <a:srgbClr val="0D9488"/>
          </a:solidFill>
          <a:ln/>
        </p:spPr>
      </p:sp>
      <p:sp>
        <p:nvSpPr>
          <p:cNvPr id="9" name="Text 7"/>
          <p:cNvSpPr/>
          <p:nvPr/>
        </p:nvSpPr>
        <p:spPr>
          <a:xfrm>
            <a:off x="2148840" y="1280160"/>
            <a:ext cx="1554480" cy="100584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Data</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Preprocessing</a:t>
            </a:r>
            <a:endParaRPr lang="en-US" sz="1200" dirty="0"/>
          </a:p>
        </p:txBody>
      </p:sp>
      <p:sp>
        <p:nvSpPr>
          <p:cNvPr id="10" name="Shape 8"/>
          <p:cNvSpPr/>
          <p:nvPr/>
        </p:nvSpPr>
        <p:spPr>
          <a:xfrm>
            <a:off x="3703320" y="1783080"/>
            <a:ext cx="228600" cy="0"/>
          </a:xfrm>
          <a:prstGeom prst="line">
            <a:avLst/>
          </a:prstGeom>
          <a:noFill/>
          <a:ln w="25400">
            <a:solidFill>
              <a:srgbClr val="64748B"/>
            </a:solidFill>
            <a:prstDash val="solid"/>
          </a:ln>
        </p:spPr>
      </p:sp>
      <p:sp>
        <p:nvSpPr>
          <p:cNvPr id="11" name="Shape 9"/>
          <p:cNvSpPr/>
          <p:nvPr/>
        </p:nvSpPr>
        <p:spPr>
          <a:xfrm>
            <a:off x="3931920" y="1280160"/>
            <a:ext cx="1554480" cy="1005840"/>
          </a:xfrm>
          <a:prstGeom prst="rect">
            <a:avLst/>
          </a:prstGeom>
          <a:solidFill>
            <a:srgbClr val="10B981"/>
          </a:solidFill>
          <a:ln/>
        </p:spPr>
      </p:sp>
      <p:sp>
        <p:nvSpPr>
          <p:cNvPr id="12" name="Text 10"/>
          <p:cNvSpPr/>
          <p:nvPr/>
        </p:nvSpPr>
        <p:spPr>
          <a:xfrm>
            <a:off x="3931920" y="1280160"/>
            <a:ext cx="1554480" cy="100584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Feature</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Engineering</a:t>
            </a:r>
            <a:endParaRPr lang="en-US" sz="1200" dirty="0"/>
          </a:p>
        </p:txBody>
      </p:sp>
      <p:sp>
        <p:nvSpPr>
          <p:cNvPr id="13" name="Shape 11"/>
          <p:cNvSpPr/>
          <p:nvPr/>
        </p:nvSpPr>
        <p:spPr>
          <a:xfrm>
            <a:off x="5486400" y="1783080"/>
            <a:ext cx="228600" cy="0"/>
          </a:xfrm>
          <a:prstGeom prst="line">
            <a:avLst/>
          </a:prstGeom>
          <a:noFill/>
          <a:ln w="25400">
            <a:solidFill>
              <a:srgbClr val="64748B"/>
            </a:solidFill>
            <a:prstDash val="solid"/>
          </a:ln>
        </p:spPr>
      </p:sp>
      <p:sp>
        <p:nvSpPr>
          <p:cNvPr id="14" name="Shape 12"/>
          <p:cNvSpPr/>
          <p:nvPr/>
        </p:nvSpPr>
        <p:spPr>
          <a:xfrm>
            <a:off x="5715000" y="1280160"/>
            <a:ext cx="1554480" cy="1005840"/>
          </a:xfrm>
          <a:prstGeom prst="rect">
            <a:avLst/>
          </a:prstGeom>
          <a:solidFill>
            <a:srgbClr val="F59E0B"/>
          </a:solidFill>
          <a:ln/>
        </p:spPr>
      </p:sp>
      <p:sp>
        <p:nvSpPr>
          <p:cNvPr id="15" name="Text 13"/>
          <p:cNvSpPr/>
          <p:nvPr/>
        </p:nvSpPr>
        <p:spPr>
          <a:xfrm>
            <a:off x="5715000" y="1280160"/>
            <a:ext cx="1554480" cy="100584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Model</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Training</a:t>
            </a:r>
            <a:endParaRPr lang="en-US" sz="1200" dirty="0"/>
          </a:p>
        </p:txBody>
      </p:sp>
      <p:sp>
        <p:nvSpPr>
          <p:cNvPr id="16" name="Shape 14"/>
          <p:cNvSpPr/>
          <p:nvPr/>
        </p:nvSpPr>
        <p:spPr>
          <a:xfrm>
            <a:off x="7269480" y="1783080"/>
            <a:ext cx="228600" cy="0"/>
          </a:xfrm>
          <a:prstGeom prst="line">
            <a:avLst/>
          </a:prstGeom>
          <a:noFill/>
          <a:ln w="25400">
            <a:solidFill>
              <a:srgbClr val="64748B"/>
            </a:solidFill>
            <a:prstDash val="solid"/>
          </a:ln>
        </p:spPr>
      </p:sp>
      <p:sp>
        <p:nvSpPr>
          <p:cNvPr id="17" name="Shape 15"/>
          <p:cNvSpPr/>
          <p:nvPr/>
        </p:nvSpPr>
        <p:spPr>
          <a:xfrm>
            <a:off x="7498080" y="1280160"/>
            <a:ext cx="1554480" cy="1005840"/>
          </a:xfrm>
          <a:prstGeom prst="rect">
            <a:avLst/>
          </a:prstGeom>
          <a:solidFill>
            <a:srgbClr val="E94560"/>
          </a:solidFill>
          <a:ln/>
        </p:spPr>
      </p:sp>
      <p:sp>
        <p:nvSpPr>
          <p:cNvPr id="18" name="Text 16"/>
          <p:cNvSpPr/>
          <p:nvPr/>
        </p:nvSpPr>
        <p:spPr>
          <a:xfrm>
            <a:off x="7498080" y="1280160"/>
            <a:ext cx="1554480" cy="100584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Evaluation &amp;</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Tuning</a:t>
            </a:r>
            <a:endParaRPr lang="en-US" sz="1200" dirty="0"/>
          </a:p>
        </p:txBody>
      </p:sp>
      <p:sp>
        <p:nvSpPr>
          <p:cNvPr id="19" name="Text 17"/>
          <p:cNvSpPr/>
          <p:nvPr/>
        </p:nvSpPr>
        <p:spPr>
          <a:xfrm>
            <a:off x="457200" y="2651760"/>
            <a:ext cx="2743200" cy="320040"/>
          </a:xfrm>
          <a:prstGeom prst="rect">
            <a:avLst/>
          </a:prstGeom>
          <a:noFill/>
          <a:ln/>
        </p:spPr>
        <p:txBody>
          <a:bodyPr wrap="square"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1. Data Collection</a:t>
            </a:r>
            <a:endParaRPr lang="en-US" sz="1100" dirty="0"/>
          </a:p>
        </p:txBody>
      </p:sp>
      <p:sp>
        <p:nvSpPr>
          <p:cNvPr id="20" name="Text 18"/>
          <p:cNvSpPr/>
          <p:nvPr/>
        </p:nvSpPr>
        <p:spPr>
          <a:xfrm>
            <a:off x="3200400" y="2651760"/>
            <a:ext cx="5486400" cy="320040"/>
          </a:xfrm>
          <a:prstGeom prst="rect">
            <a:avLst/>
          </a:prstGeom>
          <a:noFill/>
          <a:ln/>
        </p:spPr>
        <p:txBody>
          <a:bodyPr wrap="square" rtlCol="0" anchor="ctr"/>
          <a:lstStyle/>
          <a:p>
            <a:pPr indent="0" marL="0">
              <a:buNone/>
            </a:pPr>
            <a:r>
              <a:rPr lang="en-US" sz="1100" dirty="0">
                <a:solidFill>
                  <a:srgbClr val="64748B"/>
                </a:solidFill>
                <a:latin typeface="Calibri" pitchFamily="34" charset="0"/>
                <a:ea typeface="Calibri" pitchFamily="34" charset="-122"/>
                <a:cs typeface="Calibri" pitchFamily="34" charset="-120"/>
              </a:rPr>
              <a:t>Load Ames Housing Dataset (1,460 rows, 79 features)</a:t>
            </a:r>
            <a:endParaRPr lang="en-US" sz="1100" dirty="0"/>
          </a:p>
        </p:txBody>
      </p:sp>
      <p:sp>
        <p:nvSpPr>
          <p:cNvPr id="21" name="Text 19"/>
          <p:cNvSpPr/>
          <p:nvPr/>
        </p:nvSpPr>
        <p:spPr>
          <a:xfrm>
            <a:off x="457200" y="3108960"/>
            <a:ext cx="2743200" cy="320040"/>
          </a:xfrm>
          <a:prstGeom prst="rect">
            <a:avLst/>
          </a:prstGeom>
          <a:noFill/>
          <a:ln/>
        </p:spPr>
        <p:txBody>
          <a:bodyPr wrap="square"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2. Preprocessing</a:t>
            </a:r>
            <a:endParaRPr lang="en-US" sz="1100" dirty="0"/>
          </a:p>
        </p:txBody>
      </p:sp>
      <p:sp>
        <p:nvSpPr>
          <p:cNvPr id="22" name="Text 20"/>
          <p:cNvSpPr/>
          <p:nvPr/>
        </p:nvSpPr>
        <p:spPr>
          <a:xfrm>
            <a:off x="3200400" y="3108960"/>
            <a:ext cx="5486400" cy="320040"/>
          </a:xfrm>
          <a:prstGeom prst="rect">
            <a:avLst/>
          </a:prstGeom>
          <a:noFill/>
          <a:ln/>
        </p:spPr>
        <p:txBody>
          <a:bodyPr wrap="square" rtlCol="0" anchor="ctr"/>
          <a:lstStyle/>
          <a:p>
            <a:pPr indent="0" marL="0">
              <a:buNone/>
            </a:pPr>
            <a:r>
              <a:rPr lang="en-US" sz="1100" dirty="0">
                <a:solidFill>
                  <a:srgbClr val="64748B"/>
                </a:solidFill>
                <a:latin typeface="Calibri" pitchFamily="34" charset="0"/>
                <a:ea typeface="Calibri" pitchFamily="34" charset="-122"/>
                <a:cs typeface="Calibri" pitchFamily="34" charset="-120"/>
              </a:rPr>
              <a:t>Handle missing values, encode categoricals, remove outliers</a:t>
            </a:r>
            <a:endParaRPr lang="en-US" sz="1100" dirty="0"/>
          </a:p>
        </p:txBody>
      </p:sp>
      <p:sp>
        <p:nvSpPr>
          <p:cNvPr id="23" name="Text 21"/>
          <p:cNvSpPr/>
          <p:nvPr/>
        </p:nvSpPr>
        <p:spPr>
          <a:xfrm>
            <a:off x="457200" y="3566160"/>
            <a:ext cx="2743200" cy="320040"/>
          </a:xfrm>
          <a:prstGeom prst="rect">
            <a:avLst/>
          </a:prstGeom>
          <a:noFill/>
          <a:ln/>
        </p:spPr>
        <p:txBody>
          <a:bodyPr wrap="square"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3. Feature Engineering</a:t>
            </a:r>
            <a:endParaRPr lang="en-US" sz="1100" dirty="0"/>
          </a:p>
        </p:txBody>
      </p:sp>
      <p:sp>
        <p:nvSpPr>
          <p:cNvPr id="24" name="Text 22"/>
          <p:cNvSpPr/>
          <p:nvPr/>
        </p:nvSpPr>
        <p:spPr>
          <a:xfrm>
            <a:off x="3200400" y="3566160"/>
            <a:ext cx="5486400" cy="320040"/>
          </a:xfrm>
          <a:prstGeom prst="rect">
            <a:avLst/>
          </a:prstGeom>
          <a:noFill/>
          <a:ln/>
        </p:spPr>
        <p:txBody>
          <a:bodyPr wrap="square" rtlCol="0" anchor="ctr"/>
          <a:lstStyle/>
          <a:p>
            <a:pPr indent="0" marL="0">
              <a:buNone/>
            </a:pPr>
            <a:r>
              <a:rPr lang="en-US" sz="1100" dirty="0">
                <a:solidFill>
                  <a:srgbClr val="64748B"/>
                </a:solidFill>
                <a:latin typeface="Calibri" pitchFamily="34" charset="0"/>
                <a:ea typeface="Calibri" pitchFamily="34" charset="-122"/>
                <a:cs typeface="Calibri" pitchFamily="34" charset="-120"/>
              </a:rPr>
              <a:t>Create TotalSF, age features, log-transform SalePrice</a:t>
            </a:r>
            <a:endParaRPr lang="en-US" sz="1100" dirty="0"/>
          </a:p>
        </p:txBody>
      </p:sp>
      <p:sp>
        <p:nvSpPr>
          <p:cNvPr id="25" name="Text 23"/>
          <p:cNvSpPr/>
          <p:nvPr/>
        </p:nvSpPr>
        <p:spPr>
          <a:xfrm>
            <a:off x="457200" y="4023360"/>
            <a:ext cx="2743200" cy="320040"/>
          </a:xfrm>
          <a:prstGeom prst="rect">
            <a:avLst/>
          </a:prstGeom>
          <a:noFill/>
          <a:ln/>
        </p:spPr>
        <p:txBody>
          <a:bodyPr wrap="square"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4. Model Training</a:t>
            </a:r>
            <a:endParaRPr lang="en-US" sz="1100" dirty="0"/>
          </a:p>
        </p:txBody>
      </p:sp>
      <p:sp>
        <p:nvSpPr>
          <p:cNvPr id="26" name="Text 24"/>
          <p:cNvSpPr/>
          <p:nvPr/>
        </p:nvSpPr>
        <p:spPr>
          <a:xfrm>
            <a:off x="3200400" y="4023360"/>
            <a:ext cx="5486400" cy="320040"/>
          </a:xfrm>
          <a:prstGeom prst="rect">
            <a:avLst/>
          </a:prstGeom>
          <a:noFill/>
          <a:ln/>
        </p:spPr>
        <p:txBody>
          <a:bodyPr wrap="square" rtlCol="0" anchor="ctr"/>
          <a:lstStyle/>
          <a:p>
            <a:pPr indent="0" marL="0">
              <a:buNone/>
            </a:pPr>
            <a:r>
              <a:rPr lang="en-US" sz="1100" dirty="0">
                <a:solidFill>
                  <a:srgbClr val="64748B"/>
                </a:solidFill>
                <a:latin typeface="Calibri" pitchFamily="34" charset="0"/>
                <a:ea typeface="Calibri" pitchFamily="34" charset="-122"/>
                <a:cs typeface="Calibri" pitchFamily="34" charset="-120"/>
              </a:rPr>
              <a:t>Train LR, RF, GBR, XGBoost with 5-fold cross-validation</a:t>
            </a:r>
            <a:endParaRPr lang="en-US" sz="1100" dirty="0"/>
          </a:p>
        </p:txBody>
      </p:sp>
      <p:sp>
        <p:nvSpPr>
          <p:cNvPr id="27" name="Text 25"/>
          <p:cNvSpPr/>
          <p:nvPr/>
        </p:nvSpPr>
        <p:spPr>
          <a:xfrm>
            <a:off x="457200" y="4480560"/>
            <a:ext cx="2743200" cy="320040"/>
          </a:xfrm>
          <a:prstGeom prst="rect">
            <a:avLst/>
          </a:prstGeom>
          <a:noFill/>
          <a:ln/>
        </p:spPr>
        <p:txBody>
          <a:bodyPr wrap="square"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5. Evaluation</a:t>
            </a:r>
            <a:endParaRPr lang="en-US" sz="1100" dirty="0"/>
          </a:p>
        </p:txBody>
      </p:sp>
      <p:sp>
        <p:nvSpPr>
          <p:cNvPr id="28" name="Text 26"/>
          <p:cNvSpPr/>
          <p:nvPr/>
        </p:nvSpPr>
        <p:spPr>
          <a:xfrm>
            <a:off x="3200400" y="4480560"/>
            <a:ext cx="5486400" cy="320040"/>
          </a:xfrm>
          <a:prstGeom prst="rect">
            <a:avLst/>
          </a:prstGeom>
          <a:noFill/>
          <a:ln/>
        </p:spPr>
        <p:txBody>
          <a:bodyPr wrap="square" rtlCol="0" anchor="ctr"/>
          <a:lstStyle/>
          <a:p>
            <a:pPr indent="0" marL="0">
              <a:buNone/>
            </a:pPr>
            <a:r>
              <a:rPr lang="en-US" sz="1100" dirty="0">
                <a:solidFill>
                  <a:srgbClr val="64748B"/>
                </a:solidFill>
                <a:latin typeface="Calibri" pitchFamily="34" charset="0"/>
                <a:ea typeface="Calibri" pitchFamily="34" charset="-122"/>
                <a:cs typeface="Calibri" pitchFamily="34" charset="-120"/>
              </a:rPr>
              <a:t>Compare R², RMSE, MAE; tune best model with GridSearchCV</a:t>
            </a:r>
            <a:endParaRPr lang="en-US" sz="1100" dirty="0"/>
          </a:p>
        </p:txBody>
      </p:sp>
      <p:sp>
        <p:nvSpPr>
          <p:cNvPr id="29" name="Text 27"/>
          <p:cNvSpPr/>
          <p:nvPr/>
        </p:nvSpPr>
        <p:spPr>
          <a:xfrm>
            <a:off x="7772400" y="4754880"/>
            <a:ext cx="1097280" cy="274320"/>
          </a:xfrm>
          <a:prstGeom prst="rect">
            <a:avLst/>
          </a:prstGeom>
          <a:noFill/>
          <a:ln/>
        </p:spPr>
        <p:txBody>
          <a:bodyPr wrap="square"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7 / 10</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E94560"/>
          </a:solidFill>
          <a:ln/>
        </p:spPr>
      </p:sp>
      <p:sp>
        <p:nvSpPr>
          <p:cNvPr id="3" name="Text 1"/>
          <p:cNvSpPr/>
          <p:nvPr/>
        </p:nvSpPr>
        <p:spPr>
          <a:xfrm>
            <a:off x="457200" y="274320"/>
            <a:ext cx="6400800" cy="548640"/>
          </a:xfrm>
          <a:prstGeom prst="rect">
            <a:avLst/>
          </a:prstGeom>
          <a:noFill/>
          <a:ln/>
        </p:spPr>
        <p:txBody>
          <a:bodyPr wrap="square" rtlCol="0" anchor="ctr"/>
          <a:lstStyle/>
          <a:p>
            <a:pPr indent="0" marL="0">
              <a:buNone/>
            </a:pPr>
            <a:r>
              <a:rPr lang="en-US" sz="2800" b="1" dirty="0">
                <a:solidFill>
                  <a:srgbClr val="1E293B"/>
                </a:solidFill>
                <a:latin typeface="Georgia" pitchFamily="34" charset="0"/>
                <a:ea typeface="Georgia" pitchFamily="34" charset="-122"/>
                <a:cs typeface="Georgia" pitchFamily="34" charset="-120"/>
              </a:rPr>
              <a:t>RESULTS &amp; ACCURACY METRICS</a:t>
            </a:r>
            <a:endParaRPr lang="en-US" sz="2800" dirty="0"/>
          </a:p>
        </p:txBody>
      </p:sp>
      <p:sp>
        <p:nvSpPr>
          <p:cNvPr id="4" name="Shape 2"/>
          <p:cNvSpPr/>
          <p:nvPr/>
        </p:nvSpPr>
        <p:spPr>
          <a:xfrm>
            <a:off x="457200" y="822960"/>
            <a:ext cx="1371600" cy="36576"/>
          </a:xfrm>
          <a:prstGeom prst="rect">
            <a:avLst/>
          </a:prstGeom>
          <a:solidFill>
            <a:srgbClr val="E94560"/>
          </a:solidFill>
          <a:ln/>
        </p:spPr>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2286000"/>
                <a:gridCol w="1371600"/>
                <a:gridCol w="1554480"/>
                <a:gridCol w="1554480"/>
                <a:gridCol w="1463040"/>
              </a:tblGrid>
              <a:tr h="0">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Model</a:t>
                      </a:r>
                      <a:endParaRPr lang="en-US" sz="12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3460"/>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R² Score</a:t>
                      </a:r>
                      <a:endParaRPr lang="en-US" sz="12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3460"/>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RMSE ($)</a:t>
                      </a:r>
                      <a:endParaRPr lang="en-US" sz="12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3460"/>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MAE ($)</a:t>
                      </a:r>
                      <a:endParaRPr lang="en-US" sz="12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3460"/>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CV Score</a:t>
                      </a:r>
                      <a:endParaRPr lang="en-US" sz="12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3460"/>
                    </a:solidFill>
                  </a:tcPr>
                </a:tc>
              </a:tr>
              <a:tr h="0">
                <a:tc>
                  <a:txBody>
                    <a:bodyPr/>
                    <a:lstStyle/>
                    <a:p>
                      <a:pPr algn="l" indent="0" marL="0">
                        <a:buNone/>
                      </a:pPr>
                      <a:r>
                        <a:rPr lang="en-US" sz="1200" dirty="0">
                          <a:solidFill>
                            <a:srgbClr val="1E293B"/>
                          </a:solidFill>
                          <a:latin typeface="Calibri" pitchFamily="34" charset="0"/>
                          <a:ea typeface="Calibri" pitchFamily="34" charset="-122"/>
                          <a:cs typeface="Calibri" pitchFamily="34" charset="-120"/>
                        </a:rPr>
                        <a:t>Linear Regression</a:t>
                      </a:r>
                      <a:endParaRPr lang="en-US" sz="12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93B"/>
                          </a:solidFill>
                          <a:latin typeface="Calibri" pitchFamily="34" charset="0"/>
                          <a:ea typeface="Calibri" pitchFamily="34" charset="-122"/>
                          <a:cs typeface="Calibri" pitchFamily="34" charset="-120"/>
                        </a:rPr>
                        <a:t>0.82</a:t>
                      </a:r>
                      <a:endParaRPr lang="en-US" sz="12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93B"/>
                          </a:solidFill>
                          <a:latin typeface="Calibri" pitchFamily="34" charset="0"/>
                          <a:ea typeface="Calibri" pitchFamily="34" charset="-122"/>
                          <a:cs typeface="Calibri" pitchFamily="34" charset="-120"/>
                        </a:rPr>
                        <a:t>29,450</a:t>
                      </a:r>
                      <a:endParaRPr lang="en-US" sz="12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93B"/>
                          </a:solidFill>
                          <a:latin typeface="Calibri" pitchFamily="34" charset="0"/>
                          <a:ea typeface="Calibri" pitchFamily="34" charset="-122"/>
                          <a:cs typeface="Calibri" pitchFamily="34" charset="-120"/>
                        </a:rPr>
                        <a:t>20,100</a:t>
                      </a:r>
                      <a:endParaRPr lang="en-US" sz="12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93B"/>
                          </a:solidFill>
                          <a:latin typeface="Calibri" pitchFamily="34" charset="0"/>
                          <a:ea typeface="Calibri" pitchFamily="34" charset="-122"/>
                          <a:cs typeface="Calibri" pitchFamily="34" charset="-120"/>
                        </a:rPr>
                        <a:t>0.80</a:t>
                      </a:r>
                      <a:endParaRPr lang="en-US" sz="12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0">
                <a:tc>
                  <a:txBody>
                    <a:bodyPr/>
                    <a:lstStyle/>
                    <a:p>
                      <a:pPr algn="l" indent="0" marL="0">
                        <a:buNone/>
                      </a:pPr>
                      <a:r>
                        <a:rPr lang="en-US" sz="1200" dirty="0">
                          <a:solidFill>
                            <a:srgbClr val="1E293B"/>
                          </a:solidFill>
                          <a:latin typeface="Calibri" pitchFamily="34" charset="0"/>
                          <a:ea typeface="Calibri" pitchFamily="34" charset="-122"/>
                          <a:cs typeface="Calibri" pitchFamily="34" charset="-120"/>
                        </a:rPr>
                        <a:t>Random Forest</a:t>
                      </a:r>
                      <a:endParaRPr lang="en-US" sz="12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algn="ctr" indent="0" marL="0">
                        <a:buNone/>
                      </a:pPr>
                      <a:r>
                        <a:rPr lang="en-US" sz="1200" dirty="0">
                          <a:solidFill>
                            <a:srgbClr val="1E293B"/>
                          </a:solidFill>
                          <a:latin typeface="Calibri" pitchFamily="34" charset="0"/>
                          <a:ea typeface="Calibri" pitchFamily="34" charset="-122"/>
                          <a:cs typeface="Calibri" pitchFamily="34" charset="-120"/>
                        </a:rPr>
                        <a:t>0.88</a:t>
                      </a:r>
                      <a:endParaRPr lang="en-US" sz="12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algn="ctr" indent="0" marL="0">
                        <a:buNone/>
                      </a:pPr>
                      <a:r>
                        <a:rPr lang="en-US" sz="1200" dirty="0">
                          <a:solidFill>
                            <a:srgbClr val="1E293B"/>
                          </a:solidFill>
                          <a:latin typeface="Calibri" pitchFamily="34" charset="0"/>
                          <a:ea typeface="Calibri" pitchFamily="34" charset="-122"/>
                          <a:cs typeface="Calibri" pitchFamily="34" charset="-120"/>
                        </a:rPr>
                        <a:t>24,200</a:t>
                      </a:r>
                      <a:endParaRPr lang="en-US" sz="12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algn="ctr" indent="0" marL="0">
                        <a:buNone/>
                      </a:pPr>
                      <a:r>
                        <a:rPr lang="en-US" sz="1200" dirty="0">
                          <a:solidFill>
                            <a:srgbClr val="1E293B"/>
                          </a:solidFill>
                          <a:latin typeface="Calibri" pitchFamily="34" charset="0"/>
                          <a:ea typeface="Calibri" pitchFamily="34" charset="-122"/>
                          <a:cs typeface="Calibri" pitchFamily="34" charset="-120"/>
                        </a:rPr>
                        <a:t>16,800</a:t>
                      </a:r>
                      <a:endParaRPr lang="en-US" sz="12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algn="ctr" indent="0" marL="0">
                        <a:buNone/>
                      </a:pPr>
                      <a:r>
                        <a:rPr lang="en-US" sz="1200" dirty="0">
                          <a:solidFill>
                            <a:srgbClr val="1E293B"/>
                          </a:solidFill>
                          <a:latin typeface="Calibri" pitchFamily="34" charset="0"/>
                          <a:ea typeface="Calibri" pitchFamily="34" charset="-122"/>
                          <a:cs typeface="Calibri" pitchFamily="34" charset="-120"/>
                        </a:rPr>
                        <a:t>0.86</a:t>
                      </a:r>
                      <a:endParaRPr lang="en-US" sz="12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r>
              <a:tr h="0">
                <a:tc>
                  <a:txBody>
                    <a:bodyPr/>
                    <a:lstStyle/>
                    <a:p>
                      <a:pPr algn="l" indent="0" marL="0">
                        <a:buNone/>
                      </a:pPr>
                      <a:r>
                        <a:rPr lang="en-US" sz="1200" dirty="0">
                          <a:solidFill>
                            <a:srgbClr val="1E293B"/>
                          </a:solidFill>
                          <a:latin typeface="Calibri" pitchFamily="34" charset="0"/>
                          <a:ea typeface="Calibri" pitchFamily="34" charset="-122"/>
                          <a:cs typeface="Calibri" pitchFamily="34" charset="-120"/>
                        </a:rPr>
                        <a:t>Gradient Boosting</a:t>
                      </a:r>
                      <a:endParaRPr lang="en-US" sz="12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93B"/>
                          </a:solidFill>
                          <a:latin typeface="Calibri" pitchFamily="34" charset="0"/>
                          <a:ea typeface="Calibri" pitchFamily="34" charset="-122"/>
                          <a:cs typeface="Calibri" pitchFamily="34" charset="-120"/>
                        </a:rPr>
                        <a:t>0.90</a:t>
                      </a:r>
                      <a:endParaRPr lang="en-US" sz="12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93B"/>
                          </a:solidFill>
                          <a:latin typeface="Calibri" pitchFamily="34" charset="0"/>
                          <a:ea typeface="Calibri" pitchFamily="34" charset="-122"/>
                          <a:cs typeface="Calibri" pitchFamily="34" charset="-120"/>
                        </a:rPr>
                        <a:t>22,100</a:t>
                      </a:r>
                      <a:endParaRPr lang="en-US" sz="12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93B"/>
                          </a:solidFill>
                          <a:latin typeface="Calibri" pitchFamily="34" charset="0"/>
                          <a:ea typeface="Calibri" pitchFamily="34" charset="-122"/>
                          <a:cs typeface="Calibri" pitchFamily="34" charset="-120"/>
                        </a:rPr>
                        <a:t>15,200</a:t>
                      </a:r>
                      <a:endParaRPr lang="en-US" sz="12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93B"/>
                          </a:solidFill>
                          <a:latin typeface="Calibri" pitchFamily="34" charset="0"/>
                          <a:ea typeface="Calibri" pitchFamily="34" charset="-122"/>
                          <a:cs typeface="Calibri" pitchFamily="34" charset="-120"/>
                        </a:rPr>
                        <a:t>0.88</a:t>
                      </a:r>
                      <a:endParaRPr lang="en-US" sz="12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0">
                <a:tc>
                  <a:txBody>
                    <a:bodyPr/>
                    <a:lstStyle/>
                    <a:p>
                      <a:pPr algn="l" indent="0" marL="0">
                        <a:buNone/>
                      </a:pPr>
                      <a:r>
                        <a:rPr lang="en-US" sz="1200" b="1" dirty="0">
                          <a:solidFill>
                            <a:srgbClr val="E94560"/>
                          </a:solidFill>
                          <a:latin typeface="Calibri" pitchFamily="34" charset="0"/>
                          <a:ea typeface="Calibri" pitchFamily="34" charset="-122"/>
                          <a:cs typeface="Calibri" pitchFamily="34" charset="-120"/>
                        </a:rPr>
                        <a:t>XGBoost (Best)</a:t>
                      </a:r>
                      <a:endParaRPr lang="en-US" sz="12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1F2"/>
                    </a:solidFill>
                  </a:tcPr>
                </a:tc>
                <a:tc>
                  <a:txBody>
                    <a:bodyPr/>
                    <a:lstStyle/>
                    <a:p>
                      <a:pPr algn="ctr" indent="0" marL="0">
                        <a:buNone/>
                      </a:pPr>
                      <a:r>
                        <a:rPr lang="en-US" sz="1200" b="1" dirty="0">
                          <a:solidFill>
                            <a:srgbClr val="E94560"/>
                          </a:solidFill>
                          <a:latin typeface="Calibri" pitchFamily="34" charset="0"/>
                          <a:ea typeface="Calibri" pitchFamily="34" charset="-122"/>
                          <a:cs typeface="Calibri" pitchFamily="34" charset="-120"/>
                        </a:rPr>
                        <a:t>0.91</a:t>
                      </a:r>
                      <a:endParaRPr lang="en-US" sz="12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1F2"/>
                    </a:solidFill>
                  </a:tcPr>
                </a:tc>
                <a:tc>
                  <a:txBody>
                    <a:bodyPr/>
                    <a:lstStyle/>
                    <a:p>
                      <a:pPr algn="ctr" indent="0" marL="0">
                        <a:buNone/>
                      </a:pPr>
                      <a:r>
                        <a:rPr lang="en-US" sz="1200" b="1" dirty="0">
                          <a:solidFill>
                            <a:srgbClr val="E94560"/>
                          </a:solidFill>
                          <a:latin typeface="Calibri" pitchFamily="34" charset="0"/>
                          <a:ea typeface="Calibri" pitchFamily="34" charset="-122"/>
                          <a:cs typeface="Calibri" pitchFamily="34" charset="-120"/>
                        </a:rPr>
                        <a:t>21,500</a:t>
                      </a:r>
                      <a:endParaRPr lang="en-US" sz="12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1F2"/>
                    </a:solidFill>
                  </a:tcPr>
                </a:tc>
                <a:tc>
                  <a:txBody>
                    <a:bodyPr/>
                    <a:lstStyle/>
                    <a:p>
                      <a:pPr algn="ctr" indent="0" marL="0">
                        <a:buNone/>
                      </a:pPr>
                      <a:r>
                        <a:rPr lang="en-US" sz="1200" b="1" dirty="0">
                          <a:solidFill>
                            <a:srgbClr val="E94560"/>
                          </a:solidFill>
                          <a:latin typeface="Calibri" pitchFamily="34" charset="0"/>
                          <a:ea typeface="Calibri" pitchFamily="34" charset="-122"/>
                          <a:cs typeface="Calibri" pitchFamily="34" charset="-120"/>
                        </a:rPr>
                        <a:t>14,600</a:t>
                      </a:r>
                      <a:endParaRPr lang="en-US" sz="12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1F2"/>
                    </a:solidFill>
                  </a:tcPr>
                </a:tc>
                <a:tc>
                  <a:txBody>
                    <a:bodyPr/>
                    <a:lstStyle/>
                    <a:p>
                      <a:pPr algn="ctr" indent="0" marL="0">
                        <a:buNone/>
                      </a:pPr>
                      <a:r>
                        <a:rPr lang="en-US" sz="1200" b="1" dirty="0">
                          <a:solidFill>
                            <a:srgbClr val="E94560"/>
                          </a:solidFill>
                          <a:latin typeface="Calibri" pitchFamily="34" charset="0"/>
                          <a:ea typeface="Calibri" pitchFamily="34" charset="-122"/>
                          <a:cs typeface="Calibri" pitchFamily="34" charset="-120"/>
                        </a:rPr>
                        <a:t>0.89</a:t>
                      </a:r>
                      <a:endParaRPr lang="en-US" sz="12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1F2"/>
                    </a:solidFill>
                  </a:tcPr>
                </a:tc>
              </a:tr>
            </a:tbl>
          </a:graphicData>
        </a:graphic>
      </p:graphicFrame>
      <p:graphicFrame>
        <p:nvGraphicFramePr>
          <p:cNvPr id="6" name="Chart 0" descr=""/>
          <p:cNvGraphicFramePr/>
          <p:nvPr/>
        </p:nvGraphicFramePr>
        <p:xfrm>
          <a:off x="457200" y="2926080"/>
          <a:ext cx="3840480" cy="2011680"/>
        </p:xfrm>
        <a:graphic xmlns:a="http://schemas.openxmlformats.org/drawingml/2006/main">
          <a:graphicData uri="http://schemas.openxmlformats.org/drawingml/2006/chart">
            <c:chart xmlns:c="http://schemas.openxmlformats.org/drawingml/2006/chart" r:id="rId1"/>
          </a:graphicData>
        </a:graphic>
      </p:graphicFrame>
      <p:sp>
        <p:nvSpPr>
          <p:cNvPr id="7" name="Shape 3"/>
          <p:cNvSpPr/>
          <p:nvPr/>
        </p:nvSpPr>
        <p:spPr>
          <a:xfrm>
            <a:off x="5029200" y="3017520"/>
            <a:ext cx="3657600" cy="502920"/>
          </a:xfrm>
          <a:prstGeom prst="rect">
            <a:avLst/>
          </a:prstGeom>
          <a:solidFill>
            <a:srgbClr val="F1F5F9"/>
          </a:solidFill>
          <a:ln/>
        </p:spPr>
      </p:sp>
      <p:sp>
        <p:nvSpPr>
          <p:cNvPr id="8" name="Shape 4"/>
          <p:cNvSpPr/>
          <p:nvPr/>
        </p:nvSpPr>
        <p:spPr>
          <a:xfrm>
            <a:off x="5029200" y="3017520"/>
            <a:ext cx="54864" cy="502920"/>
          </a:xfrm>
          <a:prstGeom prst="rect">
            <a:avLst/>
          </a:prstGeom>
          <a:solidFill>
            <a:srgbClr val="10B981"/>
          </a:solidFill>
          <a:ln/>
        </p:spPr>
      </p:sp>
      <p:sp>
        <p:nvSpPr>
          <p:cNvPr id="9" name="Text 5"/>
          <p:cNvSpPr/>
          <p:nvPr/>
        </p:nvSpPr>
        <p:spPr>
          <a:xfrm>
            <a:off x="5303520" y="3063240"/>
            <a:ext cx="1645920" cy="365760"/>
          </a:xfrm>
          <a:prstGeom prst="rect">
            <a:avLst/>
          </a:prstGeom>
          <a:noFill/>
          <a:ln/>
        </p:spPr>
        <p:txBody>
          <a:bodyPr wrap="square" rtlCol="0" anchor="ctr"/>
          <a:lstStyle/>
          <a:p>
            <a:pPr indent="0" marL="0">
              <a:buNone/>
            </a:pPr>
            <a:r>
              <a:rPr lang="en-US" sz="1200" dirty="0">
                <a:solidFill>
                  <a:srgbClr val="64748B"/>
                </a:solidFill>
                <a:latin typeface="Calibri" pitchFamily="34" charset="0"/>
                <a:ea typeface="Calibri" pitchFamily="34" charset="-122"/>
                <a:cs typeface="Calibri" pitchFamily="34" charset="-120"/>
              </a:rPr>
              <a:t>Best R²</a:t>
            </a:r>
            <a:endParaRPr lang="en-US" sz="1200" dirty="0"/>
          </a:p>
        </p:txBody>
      </p:sp>
      <p:sp>
        <p:nvSpPr>
          <p:cNvPr id="10" name="Text 6"/>
          <p:cNvSpPr/>
          <p:nvPr/>
        </p:nvSpPr>
        <p:spPr>
          <a:xfrm>
            <a:off x="7132320" y="3063240"/>
            <a:ext cx="1371600" cy="365760"/>
          </a:xfrm>
          <a:prstGeom prst="rect">
            <a:avLst/>
          </a:prstGeom>
          <a:noFill/>
          <a:ln/>
        </p:spPr>
        <p:txBody>
          <a:bodyPr wrap="square" rtlCol="0" anchor="ctr"/>
          <a:lstStyle/>
          <a:p>
            <a:pPr algn="r" indent="0" marL="0">
              <a:buNone/>
            </a:pPr>
            <a:r>
              <a:rPr lang="en-US" sz="1800" b="1" dirty="0">
                <a:solidFill>
                  <a:srgbClr val="10B981"/>
                </a:solidFill>
                <a:latin typeface="Calibri" pitchFamily="34" charset="0"/>
                <a:ea typeface="Calibri" pitchFamily="34" charset="-122"/>
                <a:cs typeface="Calibri" pitchFamily="34" charset="-120"/>
              </a:rPr>
              <a:t>0.91</a:t>
            </a:r>
            <a:endParaRPr lang="en-US" sz="1800" dirty="0"/>
          </a:p>
        </p:txBody>
      </p:sp>
      <p:sp>
        <p:nvSpPr>
          <p:cNvPr id="11" name="Shape 7"/>
          <p:cNvSpPr/>
          <p:nvPr/>
        </p:nvSpPr>
        <p:spPr>
          <a:xfrm>
            <a:off x="5029200" y="3657600"/>
            <a:ext cx="3657600" cy="502920"/>
          </a:xfrm>
          <a:prstGeom prst="rect">
            <a:avLst/>
          </a:prstGeom>
          <a:solidFill>
            <a:srgbClr val="F1F5F9"/>
          </a:solidFill>
          <a:ln/>
        </p:spPr>
      </p:sp>
      <p:sp>
        <p:nvSpPr>
          <p:cNvPr id="12" name="Shape 8"/>
          <p:cNvSpPr/>
          <p:nvPr/>
        </p:nvSpPr>
        <p:spPr>
          <a:xfrm>
            <a:off x="5029200" y="3657600"/>
            <a:ext cx="54864" cy="502920"/>
          </a:xfrm>
          <a:prstGeom prst="rect">
            <a:avLst/>
          </a:prstGeom>
          <a:solidFill>
            <a:srgbClr val="3B82F6"/>
          </a:solidFill>
          <a:ln/>
        </p:spPr>
      </p:sp>
      <p:sp>
        <p:nvSpPr>
          <p:cNvPr id="13" name="Text 9"/>
          <p:cNvSpPr/>
          <p:nvPr/>
        </p:nvSpPr>
        <p:spPr>
          <a:xfrm>
            <a:off x="5303520" y="3703320"/>
            <a:ext cx="1645920" cy="365760"/>
          </a:xfrm>
          <a:prstGeom prst="rect">
            <a:avLst/>
          </a:prstGeom>
          <a:noFill/>
          <a:ln/>
        </p:spPr>
        <p:txBody>
          <a:bodyPr wrap="square" rtlCol="0" anchor="ctr"/>
          <a:lstStyle/>
          <a:p>
            <a:pPr indent="0" marL="0">
              <a:buNone/>
            </a:pPr>
            <a:r>
              <a:rPr lang="en-US" sz="1200" dirty="0">
                <a:solidFill>
                  <a:srgbClr val="64748B"/>
                </a:solidFill>
                <a:latin typeface="Calibri" pitchFamily="34" charset="0"/>
                <a:ea typeface="Calibri" pitchFamily="34" charset="-122"/>
                <a:cs typeface="Calibri" pitchFamily="34" charset="-120"/>
              </a:rPr>
              <a:t>Best RMSE</a:t>
            </a:r>
            <a:endParaRPr lang="en-US" sz="1200" dirty="0"/>
          </a:p>
        </p:txBody>
      </p:sp>
      <p:sp>
        <p:nvSpPr>
          <p:cNvPr id="14" name="Text 10"/>
          <p:cNvSpPr/>
          <p:nvPr/>
        </p:nvSpPr>
        <p:spPr>
          <a:xfrm>
            <a:off x="7132320" y="3703320"/>
            <a:ext cx="1371600" cy="365760"/>
          </a:xfrm>
          <a:prstGeom prst="rect">
            <a:avLst/>
          </a:prstGeom>
          <a:noFill/>
          <a:ln/>
        </p:spPr>
        <p:txBody>
          <a:bodyPr wrap="square" rtlCol="0" anchor="ctr"/>
          <a:lstStyle/>
          <a:p>
            <a:pPr algn="r" indent="0" marL="0">
              <a:buNone/>
            </a:pPr>
            <a:r>
              <a:rPr lang="en-US" sz="1800" b="1" dirty="0">
                <a:solidFill>
                  <a:srgbClr val="3B82F6"/>
                </a:solidFill>
                <a:latin typeface="Calibri" pitchFamily="34" charset="0"/>
                <a:ea typeface="Calibri" pitchFamily="34" charset="-122"/>
                <a:cs typeface="Calibri" pitchFamily="34" charset="-120"/>
              </a:rPr>
              <a:t>$21.5K</a:t>
            </a:r>
            <a:endParaRPr lang="en-US" sz="1800" dirty="0"/>
          </a:p>
        </p:txBody>
      </p:sp>
      <p:sp>
        <p:nvSpPr>
          <p:cNvPr id="15" name="Shape 11"/>
          <p:cNvSpPr/>
          <p:nvPr/>
        </p:nvSpPr>
        <p:spPr>
          <a:xfrm>
            <a:off x="5029200" y="4297680"/>
            <a:ext cx="3657600" cy="502920"/>
          </a:xfrm>
          <a:prstGeom prst="rect">
            <a:avLst/>
          </a:prstGeom>
          <a:solidFill>
            <a:srgbClr val="F1F5F9"/>
          </a:solidFill>
          <a:ln/>
        </p:spPr>
      </p:sp>
      <p:sp>
        <p:nvSpPr>
          <p:cNvPr id="16" name="Shape 12"/>
          <p:cNvSpPr/>
          <p:nvPr/>
        </p:nvSpPr>
        <p:spPr>
          <a:xfrm>
            <a:off x="5029200" y="4297680"/>
            <a:ext cx="54864" cy="502920"/>
          </a:xfrm>
          <a:prstGeom prst="rect">
            <a:avLst/>
          </a:prstGeom>
          <a:solidFill>
            <a:srgbClr val="8B5CF6"/>
          </a:solidFill>
          <a:ln/>
        </p:spPr>
      </p:sp>
      <p:sp>
        <p:nvSpPr>
          <p:cNvPr id="17" name="Text 13"/>
          <p:cNvSpPr/>
          <p:nvPr/>
        </p:nvSpPr>
        <p:spPr>
          <a:xfrm>
            <a:off x="5303520" y="4343400"/>
            <a:ext cx="1645920" cy="365760"/>
          </a:xfrm>
          <a:prstGeom prst="rect">
            <a:avLst/>
          </a:prstGeom>
          <a:noFill/>
          <a:ln/>
        </p:spPr>
        <p:txBody>
          <a:bodyPr wrap="square" rtlCol="0" anchor="ctr"/>
          <a:lstStyle/>
          <a:p>
            <a:pPr indent="0" marL="0">
              <a:buNone/>
            </a:pPr>
            <a:r>
              <a:rPr lang="en-US" sz="1200" dirty="0">
                <a:solidFill>
                  <a:srgbClr val="64748B"/>
                </a:solidFill>
                <a:latin typeface="Calibri" pitchFamily="34" charset="0"/>
                <a:ea typeface="Calibri" pitchFamily="34" charset="-122"/>
                <a:cs typeface="Calibri" pitchFamily="34" charset="-120"/>
              </a:rPr>
              <a:t>CV Score</a:t>
            </a:r>
            <a:endParaRPr lang="en-US" sz="1200" dirty="0"/>
          </a:p>
        </p:txBody>
      </p:sp>
      <p:sp>
        <p:nvSpPr>
          <p:cNvPr id="18" name="Text 14"/>
          <p:cNvSpPr/>
          <p:nvPr/>
        </p:nvSpPr>
        <p:spPr>
          <a:xfrm>
            <a:off x="7132320" y="4343400"/>
            <a:ext cx="1371600" cy="365760"/>
          </a:xfrm>
          <a:prstGeom prst="rect">
            <a:avLst/>
          </a:prstGeom>
          <a:noFill/>
          <a:ln/>
        </p:spPr>
        <p:txBody>
          <a:bodyPr wrap="square" rtlCol="0" anchor="ctr"/>
          <a:lstStyle/>
          <a:p>
            <a:pPr algn="r" indent="0" marL="0">
              <a:buNone/>
            </a:pPr>
            <a:r>
              <a:rPr lang="en-US" sz="1800" b="1" dirty="0">
                <a:solidFill>
                  <a:srgbClr val="8B5CF6"/>
                </a:solidFill>
                <a:latin typeface="Calibri" pitchFamily="34" charset="0"/>
                <a:ea typeface="Calibri" pitchFamily="34" charset="-122"/>
                <a:cs typeface="Calibri" pitchFamily="34" charset="-120"/>
              </a:rPr>
              <a:t>0.89</a:t>
            </a:r>
            <a:endParaRPr lang="en-US" sz="1800" dirty="0"/>
          </a:p>
        </p:txBody>
      </p:sp>
      <p:sp>
        <p:nvSpPr>
          <p:cNvPr id="19" name="Text 15"/>
          <p:cNvSpPr/>
          <p:nvPr/>
        </p:nvSpPr>
        <p:spPr>
          <a:xfrm>
            <a:off x="7772400" y="4754880"/>
            <a:ext cx="1097280" cy="274320"/>
          </a:xfrm>
          <a:prstGeom prst="rect">
            <a:avLst/>
          </a:prstGeom>
          <a:noFill/>
          <a:ln/>
        </p:spPr>
        <p:txBody>
          <a:bodyPr wrap="square"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8 / 10</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E94560"/>
          </a:solidFill>
          <a:ln/>
        </p:spPr>
      </p:sp>
      <p:sp>
        <p:nvSpPr>
          <p:cNvPr id="3" name="Text 1"/>
          <p:cNvSpPr/>
          <p:nvPr/>
        </p:nvSpPr>
        <p:spPr>
          <a:xfrm>
            <a:off x="457200" y="274320"/>
            <a:ext cx="6400800" cy="548640"/>
          </a:xfrm>
          <a:prstGeom prst="rect">
            <a:avLst/>
          </a:prstGeom>
          <a:noFill/>
          <a:ln/>
        </p:spPr>
        <p:txBody>
          <a:bodyPr wrap="square" rtlCol="0" anchor="ctr"/>
          <a:lstStyle/>
          <a:p>
            <a:pPr indent="0" marL="0">
              <a:buNone/>
            </a:pPr>
            <a:r>
              <a:rPr lang="en-US" sz="2800" b="1" dirty="0">
                <a:solidFill>
                  <a:srgbClr val="1E293B"/>
                </a:solidFill>
                <a:latin typeface="Georgia" pitchFamily="34" charset="0"/>
                <a:ea typeface="Georgia" pitchFamily="34" charset="-122"/>
                <a:cs typeface="Georgia" pitchFamily="34" charset="-120"/>
              </a:rPr>
              <a:t>TOP FEATURE IMPORTANCE</a:t>
            </a:r>
            <a:endParaRPr lang="en-US" sz="2800" dirty="0"/>
          </a:p>
        </p:txBody>
      </p:sp>
      <p:sp>
        <p:nvSpPr>
          <p:cNvPr id="4" name="Shape 2"/>
          <p:cNvSpPr/>
          <p:nvPr/>
        </p:nvSpPr>
        <p:spPr>
          <a:xfrm>
            <a:off x="457200" y="822960"/>
            <a:ext cx="1371600" cy="36576"/>
          </a:xfrm>
          <a:prstGeom prst="rect">
            <a:avLst/>
          </a:prstGeom>
          <a:solidFill>
            <a:srgbClr val="E94560"/>
          </a:solidFill>
          <a:ln/>
        </p:spPr>
      </p:sp>
      <p:sp>
        <p:nvSpPr>
          <p:cNvPr id="5" name="Text 3"/>
          <p:cNvSpPr/>
          <p:nvPr/>
        </p:nvSpPr>
        <p:spPr>
          <a:xfrm>
            <a:off x="457200" y="1188720"/>
            <a:ext cx="2011680" cy="320040"/>
          </a:xfrm>
          <a:prstGeom prst="rect">
            <a:avLst/>
          </a:prstGeom>
          <a:noFill/>
          <a:ln/>
        </p:spPr>
        <p:txBody>
          <a:bodyPr wrap="square" rtlCol="0" anchor="ctr"/>
          <a:lstStyle/>
          <a:p>
            <a:pPr algn="r" indent="0" marL="0">
              <a:buNone/>
            </a:pPr>
            <a:r>
              <a:rPr lang="en-US" sz="1100" dirty="0">
                <a:solidFill>
                  <a:srgbClr val="1E293B"/>
                </a:solidFill>
                <a:latin typeface="Calibri" pitchFamily="34" charset="0"/>
                <a:ea typeface="Calibri" pitchFamily="34" charset="-122"/>
                <a:cs typeface="Calibri" pitchFamily="34" charset="-120"/>
              </a:rPr>
              <a:t>OverallQual</a:t>
            </a:r>
            <a:endParaRPr lang="en-US" sz="1100" dirty="0"/>
          </a:p>
        </p:txBody>
      </p:sp>
      <p:sp>
        <p:nvSpPr>
          <p:cNvPr id="6" name="Shape 4"/>
          <p:cNvSpPr/>
          <p:nvPr/>
        </p:nvSpPr>
        <p:spPr>
          <a:xfrm>
            <a:off x="2560320" y="1234440"/>
            <a:ext cx="5120640" cy="228600"/>
          </a:xfrm>
          <a:prstGeom prst="rect">
            <a:avLst/>
          </a:prstGeom>
          <a:solidFill>
            <a:srgbClr val="E94560"/>
          </a:solidFill>
          <a:ln/>
        </p:spPr>
      </p:sp>
      <p:sp>
        <p:nvSpPr>
          <p:cNvPr id="7" name="Text 5"/>
          <p:cNvSpPr/>
          <p:nvPr/>
        </p:nvSpPr>
        <p:spPr>
          <a:xfrm>
            <a:off x="7772400" y="1188720"/>
            <a:ext cx="731520" cy="32004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28%</a:t>
            </a:r>
            <a:endParaRPr lang="en-US" sz="1000" dirty="0"/>
          </a:p>
        </p:txBody>
      </p:sp>
      <p:sp>
        <p:nvSpPr>
          <p:cNvPr id="8" name="Text 6"/>
          <p:cNvSpPr/>
          <p:nvPr/>
        </p:nvSpPr>
        <p:spPr>
          <a:xfrm>
            <a:off x="457200" y="1645920"/>
            <a:ext cx="2011680" cy="320040"/>
          </a:xfrm>
          <a:prstGeom prst="rect">
            <a:avLst/>
          </a:prstGeom>
          <a:noFill/>
          <a:ln/>
        </p:spPr>
        <p:txBody>
          <a:bodyPr wrap="square" rtlCol="0" anchor="ctr"/>
          <a:lstStyle/>
          <a:p>
            <a:pPr algn="r" indent="0" marL="0">
              <a:buNone/>
            </a:pPr>
            <a:r>
              <a:rPr lang="en-US" sz="1100" dirty="0">
                <a:solidFill>
                  <a:srgbClr val="1E293B"/>
                </a:solidFill>
                <a:latin typeface="Calibri" pitchFamily="34" charset="0"/>
                <a:ea typeface="Calibri" pitchFamily="34" charset="-122"/>
                <a:cs typeface="Calibri" pitchFamily="34" charset="-120"/>
              </a:rPr>
              <a:t>GrLivArea</a:t>
            </a:r>
            <a:endParaRPr lang="en-US" sz="1100" dirty="0"/>
          </a:p>
        </p:txBody>
      </p:sp>
      <p:sp>
        <p:nvSpPr>
          <p:cNvPr id="9" name="Shape 7"/>
          <p:cNvSpPr/>
          <p:nvPr/>
        </p:nvSpPr>
        <p:spPr>
          <a:xfrm>
            <a:off x="2560320" y="1691640"/>
            <a:ext cx="3291840" cy="228600"/>
          </a:xfrm>
          <a:prstGeom prst="rect">
            <a:avLst/>
          </a:prstGeom>
          <a:solidFill>
            <a:srgbClr val="0F3460"/>
          </a:solidFill>
          <a:ln/>
        </p:spPr>
      </p:sp>
      <p:sp>
        <p:nvSpPr>
          <p:cNvPr id="10" name="Text 8"/>
          <p:cNvSpPr/>
          <p:nvPr/>
        </p:nvSpPr>
        <p:spPr>
          <a:xfrm>
            <a:off x="5943600" y="1645920"/>
            <a:ext cx="731520" cy="32004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18%</a:t>
            </a:r>
            <a:endParaRPr lang="en-US" sz="1000" dirty="0"/>
          </a:p>
        </p:txBody>
      </p:sp>
      <p:sp>
        <p:nvSpPr>
          <p:cNvPr id="11" name="Text 9"/>
          <p:cNvSpPr/>
          <p:nvPr/>
        </p:nvSpPr>
        <p:spPr>
          <a:xfrm>
            <a:off x="457200" y="2103120"/>
            <a:ext cx="2011680" cy="320040"/>
          </a:xfrm>
          <a:prstGeom prst="rect">
            <a:avLst/>
          </a:prstGeom>
          <a:noFill/>
          <a:ln/>
        </p:spPr>
        <p:txBody>
          <a:bodyPr wrap="square" rtlCol="0" anchor="ctr"/>
          <a:lstStyle/>
          <a:p>
            <a:pPr algn="r" indent="0" marL="0">
              <a:buNone/>
            </a:pPr>
            <a:r>
              <a:rPr lang="en-US" sz="1100" dirty="0">
                <a:solidFill>
                  <a:srgbClr val="1E293B"/>
                </a:solidFill>
                <a:latin typeface="Calibri" pitchFamily="34" charset="0"/>
                <a:ea typeface="Calibri" pitchFamily="34" charset="-122"/>
                <a:cs typeface="Calibri" pitchFamily="34" charset="-120"/>
              </a:rPr>
              <a:t>GarageCars</a:t>
            </a:r>
            <a:endParaRPr lang="en-US" sz="1100" dirty="0"/>
          </a:p>
        </p:txBody>
      </p:sp>
      <p:sp>
        <p:nvSpPr>
          <p:cNvPr id="12" name="Shape 10"/>
          <p:cNvSpPr/>
          <p:nvPr/>
        </p:nvSpPr>
        <p:spPr>
          <a:xfrm>
            <a:off x="2560320" y="2148840"/>
            <a:ext cx="2194560" cy="228600"/>
          </a:xfrm>
          <a:prstGeom prst="rect">
            <a:avLst/>
          </a:prstGeom>
          <a:solidFill>
            <a:srgbClr val="0F3460"/>
          </a:solidFill>
          <a:ln/>
        </p:spPr>
      </p:sp>
      <p:sp>
        <p:nvSpPr>
          <p:cNvPr id="13" name="Text 11"/>
          <p:cNvSpPr/>
          <p:nvPr/>
        </p:nvSpPr>
        <p:spPr>
          <a:xfrm>
            <a:off x="4846320" y="2103120"/>
            <a:ext cx="731520" cy="32004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12%</a:t>
            </a:r>
            <a:endParaRPr lang="en-US" sz="1000" dirty="0"/>
          </a:p>
        </p:txBody>
      </p:sp>
      <p:sp>
        <p:nvSpPr>
          <p:cNvPr id="14" name="Text 12"/>
          <p:cNvSpPr/>
          <p:nvPr/>
        </p:nvSpPr>
        <p:spPr>
          <a:xfrm>
            <a:off x="457200" y="2560320"/>
            <a:ext cx="2011680" cy="320040"/>
          </a:xfrm>
          <a:prstGeom prst="rect">
            <a:avLst/>
          </a:prstGeom>
          <a:noFill/>
          <a:ln/>
        </p:spPr>
        <p:txBody>
          <a:bodyPr wrap="square" rtlCol="0" anchor="ctr"/>
          <a:lstStyle/>
          <a:p>
            <a:pPr algn="r" indent="0" marL="0">
              <a:buNone/>
            </a:pPr>
            <a:r>
              <a:rPr lang="en-US" sz="1100" dirty="0">
                <a:solidFill>
                  <a:srgbClr val="1E293B"/>
                </a:solidFill>
                <a:latin typeface="Calibri" pitchFamily="34" charset="0"/>
                <a:ea typeface="Calibri" pitchFamily="34" charset="-122"/>
                <a:cs typeface="Calibri" pitchFamily="34" charset="-120"/>
              </a:rPr>
              <a:t>TotalBsmtSF</a:t>
            </a:r>
            <a:endParaRPr lang="en-US" sz="1100" dirty="0"/>
          </a:p>
        </p:txBody>
      </p:sp>
      <p:sp>
        <p:nvSpPr>
          <p:cNvPr id="15" name="Shape 13"/>
          <p:cNvSpPr/>
          <p:nvPr/>
        </p:nvSpPr>
        <p:spPr>
          <a:xfrm>
            <a:off x="2560320" y="2606040"/>
            <a:ext cx="1828800" cy="228600"/>
          </a:xfrm>
          <a:prstGeom prst="rect">
            <a:avLst/>
          </a:prstGeom>
          <a:solidFill>
            <a:srgbClr val="0F3460"/>
          </a:solidFill>
          <a:ln/>
        </p:spPr>
      </p:sp>
      <p:sp>
        <p:nvSpPr>
          <p:cNvPr id="16" name="Text 14"/>
          <p:cNvSpPr/>
          <p:nvPr/>
        </p:nvSpPr>
        <p:spPr>
          <a:xfrm>
            <a:off x="4480560" y="2560320"/>
            <a:ext cx="731520" cy="32004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10%</a:t>
            </a:r>
            <a:endParaRPr lang="en-US" sz="1000" dirty="0"/>
          </a:p>
        </p:txBody>
      </p:sp>
      <p:sp>
        <p:nvSpPr>
          <p:cNvPr id="17" name="Text 15"/>
          <p:cNvSpPr/>
          <p:nvPr/>
        </p:nvSpPr>
        <p:spPr>
          <a:xfrm>
            <a:off x="457200" y="3017520"/>
            <a:ext cx="2011680" cy="320040"/>
          </a:xfrm>
          <a:prstGeom prst="rect">
            <a:avLst/>
          </a:prstGeom>
          <a:noFill/>
          <a:ln/>
        </p:spPr>
        <p:txBody>
          <a:bodyPr wrap="square" rtlCol="0" anchor="ctr"/>
          <a:lstStyle/>
          <a:p>
            <a:pPr algn="r" indent="0" marL="0">
              <a:buNone/>
            </a:pPr>
            <a:r>
              <a:rPr lang="en-US" sz="1100" dirty="0">
                <a:solidFill>
                  <a:srgbClr val="1E293B"/>
                </a:solidFill>
                <a:latin typeface="Calibri" pitchFamily="34" charset="0"/>
                <a:ea typeface="Calibri" pitchFamily="34" charset="-122"/>
                <a:cs typeface="Calibri" pitchFamily="34" charset="-120"/>
              </a:rPr>
              <a:t>YearBuilt</a:t>
            </a:r>
            <a:endParaRPr lang="en-US" sz="1100" dirty="0"/>
          </a:p>
        </p:txBody>
      </p:sp>
      <p:sp>
        <p:nvSpPr>
          <p:cNvPr id="18" name="Shape 16"/>
          <p:cNvSpPr/>
          <p:nvPr/>
        </p:nvSpPr>
        <p:spPr>
          <a:xfrm>
            <a:off x="2560320" y="3063240"/>
            <a:ext cx="1463040" cy="228600"/>
          </a:xfrm>
          <a:prstGeom prst="rect">
            <a:avLst/>
          </a:prstGeom>
          <a:solidFill>
            <a:srgbClr val="0F3460"/>
          </a:solidFill>
          <a:ln/>
        </p:spPr>
      </p:sp>
      <p:sp>
        <p:nvSpPr>
          <p:cNvPr id="19" name="Text 17"/>
          <p:cNvSpPr/>
          <p:nvPr/>
        </p:nvSpPr>
        <p:spPr>
          <a:xfrm>
            <a:off x="4114800" y="3017520"/>
            <a:ext cx="731520" cy="32004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8%</a:t>
            </a:r>
            <a:endParaRPr lang="en-US" sz="1000" dirty="0"/>
          </a:p>
        </p:txBody>
      </p:sp>
      <p:sp>
        <p:nvSpPr>
          <p:cNvPr id="20" name="Text 18"/>
          <p:cNvSpPr/>
          <p:nvPr/>
        </p:nvSpPr>
        <p:spPr>
          <a:xfrm>
            <a:off x="457200" y="3474720"/>
            <a:ext cx="2011680" cy="320040"/>
          </a:xfrm>
          <a:prstGeom prst="rect">
            <a:avLst/>
          </a:prstGeom>
          <a:noFill/>
          <a:ln/>
        </p:spPr>
        <p:txBody>
          <a:bodyPr wrap="square" rtlCol="0" anchor="ctr"/>
          <a:lstStyle/>
          <a:p>
            <a:pPr algn="r" indent="0" marL="0">
              <a:buNone/>
            </a:pPr>
            <a:r>
              <a:rPr lang="en-US" sz="1100" dirty="0">
                <a:solidFill>
                  <a:srgbClr val="1E293B"/>
                </a:solidFill>
                <a:latin typeface="Calibri" pitchFamily="34" charset="0"/>
                <a:ea typeface="Calibri" pitchFamily="34" charset="-122"/>
                <a:cs typeface="Calibri" pitchFamily="34" charset="-120"/>
              </a:rPr>
              <a:t>FullBath</a:t>
            </a:r>
            <a:endParaRPr lang="en-US" sz="1100" dirty="0"/>
          </a:p>
        </p:txBody>
      </p:sp>
      <p:sp>
        <p:nvSpPr>
          <p:cNvPr id="21" name="Shape 19"/>
          <p:cNvSpPr/>
          <p:nvPr/>
        </p:nvSpPr>
        <p:spPr>
          <a:xfrm>
            <a:off x="2560320" y="3520440"/>
            <a:ext cx="1097280" cy="228600"/>
          </a:xfrm>
          <a:prstGeom prst="rect">
            <a:avLst/>
          </a:prstGeom>
          <a:solidFill>
            <a:srgbClr val="0F3460"/>
          </a:solidFill>
          <a:ln/>
        </p:spPr>
      </p:sp>
      <p:sp>
        <p:nvSpPr>
          <p:cNvPr id="22" name="Text 20"/>
          <p:cNvSpPr/>
          <p:nvPr/>
        </p:nvSpPr>
        <p:spPr>
          <a:xfrm>
            <a:off x="3749040" y="3474720"/>
            <a:ext cx="731520" cy="32004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6%</a:t>
            </a:r>
            <a:endParaRPr lang="en-US" sz="1000" dirty="0"/>
          </a:p>
        </p:txBody>
      </p:sp>
      <p:sp>
        <p:nvSpPr>
          <p:cNvPr id="23" name="Text 21"/>
          <p:cNvSpPr/>
          <p:nvPr/>
        </p:nvSpPr>
        <p:spPr>
          <a:xfrm>
            <a:off x="457200" y="3931920"/>
            <a:ext cx="2011680" cy="320040"/>
          </a:xfrm>
          <a:prstGeom prst="rect">
            <a:avLst/>
          </a:prstGeom>
          <a:noFill/>
          <a:ln/>
        </p:spPr>
        <p:txBody>
          <a:bodyPr wrap="square" rtlCol="0" anchor="ctr"/>
          <a:lstStyle/>
          <a:p>
            <a:pPr algn="r" indent="0" marL="0">
              <a:buNone/>
            </a:pPr>
            <a:r>
              <a:rPr lang="en-US" sz="1100" dirty="0">
                <a:solidFill>
                  <a:srgbClr val="1E293B"/>
                </a:solidFill>
                <a:latin typeface="Calibri" pitchFamily="34" charset="0"/>
                <a:ea typeface="Calibri" pitchFamily="34" charset="-122"/>
                <a:cs typeface="Calibri" pitchFamily="34" charset="-120"/>
              </a:rPr>
              <a:t>TotRmsAbvGrd</a:t>
            </a:r>
            <a:endParaRPr lang="en-US" sz="1100" dirty="0"/>
          </a:p>
        </p:txBody>
      </p:sp>
      <p:sp>
        <p:nvSpPr>
          <p:cNvPr id="24" name="Shape 22"/>
          <p:cNvSpPr/>
          <p:nvPr/>
        </p:nvSpPr>
        <p:spPr>
          <a:xfrm>
            <a:off x="2560320" y="3977640"/>
            <a:ext cx="914400" cy="228600"/>
          </a:xfrm>
          <a:prstGeom prst="rect">
            <a:avLst/>
          </a:prstGeom>
          <a:solidFill>
            <a:srgbClr val="0F3460"/>
          </a:solidFill>
          <a:ln/>
        </p:spPr>
      </p:sp>
      <p:sp>
        <p:nvSpPr>
          <p:cNvPr id="25" name="Text 23"/>
          <p:cNvSpPr/>
          <p:nvPr/>
        </p:nvSpPr>
        <p:spPr>
          <a:xfrm>
            <a:off x="3566160" y="3931920"/>
            <a:ext cx="731520" cy="32004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5%</a:t>
            </a:r>
            <a:endParaRPr lang="en-US" sz="1000" dirty="0"/>
          </a:p>
        </p:txBody>
      </p:sp>
      <p:sp>
        <p:nvSpPr>
          <p:cNvPr id="26" name="Text 24"/>
          <p:cNvSpPr/>
          <p:nvPr/>
        </p:nvSpPr>
        <p:spPr>
          <a:xfrm>
            <a:off x="457200" y="4389120"/>
            <a:ext cx="2011680" cy="320040"/>
          </a:xfrm>
          <a:prstGeom prst="rect">
            <a:avLst/>
          </a:prstGeom>
          <a:noFill/>
          <a:ln/>
        </p:spPr>
        <p:txBody>
          <a:bodyPr wrap="square" rtlCol="0" anchor="ctr"/>
          <a:lstStyle/>
          <a:p>
            <a:pPr algn="r" indent="0" marL="0">
              <a:buNone/>
            </a:pPr>
            <a:r>
              <a:rPr lang="en-US" sz="1100" dirty="0">
                <a:solidFill>
                  <a:srgbClr val="1E293B"/>
                </a:solidFill>
                <a:latin typeface="Calibri" pitchFamily="34" charset="0"/>
                <a:ea typeface="Calibri" pitchFamily="34" charset="-122"/>
                <a:cs typeface="Calibri" pitchFamily="34" charset="-120"/>
              </a:rPr>
              <a:t>Fireplaces</a:t>
            </a:r>
            <a:endParaRPr lang="en-US" sz="1100" dirty="0"/>
          </a:p>
        </p:txBody>
      </p:sp>
      <p:sp>
        <p:nvSpPr>
          <p:cNvPr id="27" name="Shape 25"/>
          <p:cNvSpPr/>
          <p:nvPr/>
        </p:nvSpPr>
        <p:spPr>
          <a:xfrm>
            <a:off x="2560320" y="4434840"/>
            <a:ext cx="731520" cy="228600"/>
          </a:xfrm>
          <a:prstGeom prst="rect">
            <a:avLst/>
          </a:prstGeom>
          <a:solidFill>
            <a:srgbClr val="0F3460"/>
          </a:solidFill>
          <a:ln/>
        </p:spPr>
      </p:sp>
      <p:sp>
        <p:nvSpPr>
          <p:cNvPr id="28" name="Text 26"/>
          <p:cNvSpPr/>
          <p:nvPr/>
        </p:nvSpPr>
        <p:spPr>
          <a:xfrm>
            <a:off x="3383280" y="4389120"/>
            <a:ext cx="731520" cy="32004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4%</a:t>
            </a:r>
            <a:endParaRPr lang="en-US" sz="1000" dirty="0"/>
          </a:p>
        </p:txBody>
      </p:sp>
      <p:sp>
        <p:nvSpPr>
          <p:cNvPr id="29" name="Text 27"/>
          <p:cNvSpPr/>
          <p:nvPr/>
        </p:nvSpPr>
        <p:spPr>
          <a:xfrm>
            <a:off x="457200" y="4572000"/>
            <a:ext cx="8229600" cy="365760"/>
          </a:xfrm>
          <a:prstGeom prst="rect">
            <a:avLst/>
          </a:prstGeom>
          <a:noFill/>
          <a:ln/>
        </p:spPr>
        <p:txBody>
          <a:bodyPr wrap="square"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OverallQual and GrLivArea together account for 46% of predictive power, confirming that quality and living space are the strongest price determinants.</a:t>
            </a:r>
            <a:endParaRPr lang="en-US" sz="1100" dirty="0"/>
          </a:p>
        </p:txBody>
      </p:sp>
      <p:sp>
        <p:nvSpPr>
          <p:cNvPr id="30" name="Text 28"/>
          <p:cNvSpPr/>
          <p:nvPr/>
        </p:nvSpPr>
        <p:spPr>
          <a:xfrm>
            <a:off x="7772400" y="4754880"/>
            <a:ext cx="1097280" cy="274320"/>
          </a:xfrm>
          <a:prstGeom prst="rect">
            <a:avLst/>
          </a:prstGeom>
          <a:noFill/>
          <a:ln/>
        </p:spPr>
        <p:txBody>
          <a:bodyPr wrap="square"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9 / 10</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E94560"/>
          </a:solidFill>
          <a:ln/>
        </p:spPr>
      </p:sp>
      <p:sp>
        <p:nvSpPr>
          <p:cNvPr id="3" name="Text 1"/>
          <p:cNvSpPr/>
          <p:nvPr/>
        </p:nvSpPr>
        <p:spPr>
          <a:xfrm>
            <a:off x="457200" y="274320"/>
            <a:ext cx="5486400" cy="548640"/>
          </a:xfrm>
          <a:prstGeom prst="rect">
            <a:avLst/>
          </a:prstGeom>
          <a:noFill/>
          <a:ln/>
        </p:spPr>
        <p:txBody>
          <a:bodyPr wrap="square" rtlCol="0" anchor="ctr"/>
          <a:lstStyle/>
          <a:p>
            <a:pPr indent="0" marL="0">
              <a:buNone/>
            </a:pPr>
            <a:r>
              <a:rPr lang="en-US" sz="2800" b="1" dirty="0">
                <a:solidFill>
                  <a:srgbClr val="1E293B"/>
                </a:solidFill>
                <a:latin typeface="Georgia" pitchFamily="34" charset="0"/>
                <a:ea typeface="Georgia" pitchFamily="34" charset="-122"/>
                <a:cs typeface="Georgia" pitchFamily="34" charset="-120"/>
              </a:rPr>
              <a:t>FUTURE SCOPE</a:t>
            </a:r>
            <a:endParaRPr lang="en-US" sz="2800" dirty="0"/>
          </a:p>
        </p:txBody>
      </p:sp>
      <p:sp>
        <p:nvSpPr>
          <p:cNvPr id="4" name="Shape 2"/>
          <p:cNvSpPr/>
          <p:nvPr/>
        </p:nvSpPr>
        <p:spPr>
          <a:xfrm>
            <a:off x="457200" y="822960"/>
            <a:ext cx="1371600" cy="36576"/>
          </a:xfrm>
          <a:prstGeom prst="rect">
            <a:avLst/>
          </a:prstGeom>
          <a:solidFill>
            <a:srgbClr val="E94560"/>
          </a:solidFill>
          <a:ln/>
        </p:spPr>
      </p:sp>
      <p:sp>
        <p:nvSpPr>
          <p:cNvPr id="5" name="Shape 3"/>
          <p:cNvSpPr/>
          <p:nvPr/>
        </p:nvSpPr>
        <p:spPr>
          <a:xfrm>
            <a:off x="457200" y="1188720"/>
            <a:ext cx="3931920" cy="1005840"/>
          </a:xfrm>
          <a:prstGeom prst="rect">
            <a:avLst/>
          </a:prstGeom>
          <a:solidFill>
            <a:srgbClr val="F1F5F9"/>
          </a:solidFill>
          <a:ln/>
        </p:spPr>
      </p:sp>
      <p:sp>
        <p:nvSpPr>
          <p:cNvPr id="6" name="Shape 4"/>
          <p:cNvSpPr/>
          <p:nvPr/>
        </p:nvSpPr>
        <p:spPr>
          <a:xfrm>
            <a:off x="457200" y="1188720"/>
            <a:ext cx="3931920" cy="45720"/>
          </a:xfrm>
          <a:prstGeom prst="rect">
            <a:avLst/>
          </a:prstGeom>
          <a:solidFill>
            <a:srgbClr val="E94560"/>
          </a:solidFill>
          <a:ln/>
        </p:spPr>
      </p:sp>
      <p:sp>
        <p:nvSpPr>
          <p:cNvPr id="7" name="Text 5"/>
          <p:cNvSpPr/>
          <p:nvPr/>
        </p:nvSpPr>
        <p:spPr>
          <a:xfrm>
            <a:off x="594360" y="1325880"/>
            <a:ext cx="3657600" cy="274320"/>
          </a:xfrm>
          <a:prstGeom prst="rect">
            <a:avLst/>
          </a:prstGeom>
          <a:noFill/>
          <a:ln/>
        </p:spPr>
        <p:txBody>
          <a:bodyPr wrap="square"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Deep Learning Integration</a:t>
            </a:r>
            <a:endParaRPr lang="en-US" sz="1300" dirty="0"/>
          </a:p>
        </p:txBody>
      </p:sp>
      <p:sp>
        <p:nvSpPr>
          <p:cNvPr id="8" name="Text 6"/>
          <p:cNvSpPr/>
          <p:nvPr/>
        </p:nvSpPr>
        <p:spPr>
          <a:xfrm>
            <a:off x="594360" y="1645920"/>
            <a:ext cx="3657600" cy="457200"/>
          </a:xfrm>
          <a:prstGeom prst="rect">
            <a:avLst/>
          </a:prstGeom>
          <a:noFill/>
          <a:ln/>
        </p:spPr>
        <p:txBody>
          <a:bodyPr wrap="square" rtlCol="0" anchor="ctr"/>
          <a:lstStyle/>
          <a:p>
            <a:pPr indent="0" marL="0">
              <a:buNone/>
            </a:pPr>
            <a:r>
              <a:rPr lang="en-US" sz="1050" dirty="0">
                <a:solidFill>
                  <a:srgbClr val="64748B"/>
                </a:solidFill>
                <a:latin typeface="Calibri" pitchFamily="34" charset="0"/>
                <a:ea typeface="Calibri" pitchFamily="34" charset="-122"/>
                <a:cs typeface="Calibri" pitchFamily="34" charset="-120"/>
              </a:rPr>
              <a:t>Implement neural networks (DNNs, autoencoders) for capturing complex non-linear feature interactions.</a:t>
            </a:r>
            <a:endParaRPr lang="en-US" sz="1050" dirty="0"/>
          </a:p>
        </p:txBody>
      </p:sp>
      <p:sp>
        <p:nvSpPr>
          <p:cNvPr id="9" name="Shape 7"/>
          <p:cNvSpPr/>
          <p:nvPr/>
        </p:nvSpPr>
        <p:spPr>
          <a:xfrm>
            <a:off x="4754880" y="1188720"/>
            <a:ext cx="3931920" cy="1005840"/>
          </a:xfrm>
          <a:prstGeom prst="rect">
            <a:avLst/>
          </a:prstGeom>
          <a:solidFill>
            <a:srgbClr val="F1F5F9"/>
          </a:solidFill>
          <a:ln/>
        </p:spPr>
      </p:sp>
      <p:sp>
        <p:nvSpPr>
          <p:cNvPr id="10" name="Shape 8"/>
          <p:cNvSpPr/>
          <p:nvPr/>
        </p:nvSpPr>
        <p:spPr>
          <a:xfrm>
            <a:off x="4754880" y="1188720"/>
            <a:ext cx="3931920" cy="45720"/>
          </a:xfrm>
          <a:prstGeom prst="rect">
            <a:avLst/>
          </a:prstGeom>
          <a:solidFill>
            <a:srgbClr val="E94560"/>
          </a:solidFill>
          <a:ln/>
        </p:spPr>
      </p:sp>
      <p:sp>
        <p:nvSpPr>
          <p:cNvPr id="11" name="Text 9"/>
          <p:cNvSpPr/>
          <p:nvPr/>
        </p:nvSpPr>
        <p:spPr>
          <a:xfrm>
            <a:off x="4892040" y="1325880"/>
            <a:ext cx="3657600" cy="274320"/>
          </a:xfrm>
          <a:prstGeom prst="rect">
            <a:avLst/>
          </a:prstGeom>
          <a:noFill/>
          <a:ln/>
        </p:spPr>
        <p:txBody>
          <a:bodyPr wrap="square"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Real-Time Prediction API</a:t>
            </a:r>
            <a:endParaRPr lang="en-US" sz="1300" dirty="0"/>
          </a:p>
        </p:txBody>
      </p:sp>
      <p:sp>
        <p:nvSpPr>
          <p:cNvPr id="12" name="Text 10"/>
          <p:cNvSpPr/>
          <p:nvPr/>
        </p:nvSpPr>
        <p:spPr>
          <a:xfrm>
            <a:off x="4892040" y="1645920"/>
            <a:ext cx="3657600" cy="457200"/>
          </a:xfrm>
          <a:prstGeom prst="rect">
            <a:avLst/>
          </a:prstGeom>
          <a:noFill/>
          <a:ln/>
        </p:spPr>
        <p:txBody>
          <a:bodyPr wrap="square" rtlCol="0" anchor="ctr"/>
          <a:lstStyle/>
          <a:p>
            <a:pPr indent="0" marL="0">
              <a:buNone/>
            </a:pPr>
            <a:r>
              <a:rPr lang="en-US" sz="1050" dirty="0">
                <a:solidFill>
                  <a:srgbClr val="64748B"/>
                </a:solidFill>
                <a:latin typeface="Calibri" pitchFamily="34" charset="0"/>
                <a:ea typeface="Calibri" pitchFamily="34" charset="-122"/>
                <a:cs typeface="Calibri" pitchFamily="34" charset="-120"/>
              </a:rPr>
              <a:t>Deploy the model as a REST API using Flask/FastAPI for live property valuation queries.</a:t>
            </a:r>
            <a:endParaRPr lang="en-US" sz="1050" dirty="0"/>
          </a:p>
        </p:txBody>
      </p:sp>
      <p:sp>
        <p:nvSpPr>
          <p:cNvPr id="13" name="Shape 11"/>
          <p:cNvSpPr/>
          <p:nvPr/>
        </p:nvSpPr>
        <p:spPr>
          <a:xfrm>
            <a:off x="457200" y="2423160"/>
            <a:ext cx="3931920" cy="1005840"/>
          </a:xfrm>
          <a:prstGeom prst="rect">
            <a:avLst/>
          </a:prstGeom>
          <a:solidFill>
            <a:srgbClr val="F1F5F9"/>
          </a:solidFill>
          <a:ln/>
        </p:spPr>
      </p:sp>
      <p:sp>
        <p:nvSpPr>
          <p:cNvPr id="14" name="Shape 12"/>
          <p:cNvSpPr/>
          <p:nvPr/>
        </p:nvSpPr>
        <p:spPr>
          <a:xfrm>
            <a:off x="457200" y="2423160"/>
            <a:ext cx="3931920" cy="45720"/>
          </a:xfrm>
          <a:prstGeom prst="rect">
            <a:avLst/>
          </a:prstGeom>
          <a:solidFill>
            <a:srgbClr val="E94560"/>
          </a:solidFill>
          <a:ln/>
        </p:spPr>
      </p:sp>
      <p:sp>
        <p:nvSpPr>
          <p:cNvPr id="15" name="Text 13"/>
          <p:cNvSpPr/>
          <p:nvPr/>
        </p:nvSpPr>
        <p:spPr>
          <a:xfrm>
            <a:off x="594360" y="2560320"/>
            <a:ext cx="3657600" cy="274320"/>
          </a:xfrm>
          <a:prstGeom prst="rect">
            <a:avLst/>
          </a:prstGeom>
          <a:noFill/>
          <a:ln/>
        </p:spPr>
        <p:txBody>
          <a:bodyPr wrap="square"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Geospatial Features</a:t>
            </a:r>
            <a:endParaRPr lang="en-US" sz="1300" dirty="0"/>
          </a:p>
        </p:txBody>
      </p:sp>
      <p:sp>
        <p:nvSpPr>
          <p:cNvPr id="16" name="Text 14"/>
          <p:cNvSpPr/>
          <p:nvPr/>
        </p:nvSpPr>
        <p:spPr>
          <a:xfrm>
            <a:off x="594360" y="2880360"/>
            <a:ext cx="3657600" cy="457200"/>
          </a:xfrm>
          <a:prstGeom prst="rect">
            <a:avLst/>
          </a:prstGeom>
          <a:noFill/>
          <a:ln/>
        </p:spPr>
        <p:txBody>
          <a:bodyPr wrap="square" rtlCol="0" anchor="ctr"/>
          <a:lstStyle/>
          <a:p>
            <a:pPr indent="0" marL="0">
              <a:buNone/>
            </a:pPr>
            <a:r>
              <a:rPr lang="en-US" sz="1050" dirty="0">
                <a:solidFill>
                  <a:srgbClr val="64748B"/>
                </a:solidFill>
                <a:latin typeface="Calibri" pitchFamily="34" charset="0"/>
                <a:ea typeface="Calibri" pitchFamily="34" charset="-122"/>
                <a:cs typeface="Calibri" pitchFamily="34" charset="-120"/>
              </a:rPr>
              <a:t>Incorporate location-based data (proximity to schools, transit, crime rates) using GIS and map APIs.</a:t>
            </a:r>
            <a:endParaRPr lang="en-US" sz="1050" dirty="0"/>
          </a:p>
        </p:txBody>
      </p:sp>
      <p:sp>
        <p:nvSpPr>
          <p:cNvPr id="17" name="Shape 15"/>
          <p:cNvSpPr/>
          <p:nvPr/>
        </p:nvSpPr>
        <p:spPr>
          <a:xfrm>
            <a:off x="4754880" y="2423160"/>
            <a:ext cx="3931920" cy="1005840"/>
          </a:xfrm>
          <a:prstGeom prst="rect">
            <a:avLst/>
          </a:prstGeom>
          <a:solidFill>
            <a:srgbClr val="F1F5F9"/>
          </a:solidFill>
          <a:ln/>
        </p:spPr>
      </p:sp>
      <p:sp>
        <p:nvSpPr>
          <p:cNvPr id="18" name="Shape 16"/>
          <p:cNvSpPr/>
          <p:nvPr/>
        </p:nvSpPr>
        <p:spPr>
          <a:xfrm>
            <a:off x="4754880" y="2423160"/>
            <a:ext cx="3931920" cy="45720"/>
          </a:xfrm>
          <a:prstGeom prst="rect">
            <a:avLst/>
          </a:prstGeom>
          <a:solidFill>
            <a:srgbClr val="E94560"/>
          </a:solidFill>
          <a:ln/>
        </p:spPr>
      </p:sp>
      <p:sp>
        <p:nvSpPr>
          <p:cNvPr id="19" name="Text 17"/>
          <p:cNvSpPr/>
          <p:nvPr/>
        </p:nvSpPr>
        <p:spPr>
          <a:xfrm>
            <a:off x="4892040" y="2560320"/>
            <a:ext cx="3657600" cy="274320"/>
          </a:xfrm>
          <a:prstGeom prst="rect">
            <a:avLst/>
          </a:prstGeom>
          <a:noFill/>
          <a:ln/>
        </p:spPr>
        <p:txBody>
          <a:bodyPr wrap="square"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Time-Series Analysis</a:t>
            </a:r>
            <a:endParaRPr lang="en-US" sz="1300" dirty="0"/>
          </a:p>
        </p:txBody>
      </p:sp>
      <p:sp>
        <p:nvSpPr>
          <p:cNvPr id="20" name="Text 18"/>
          <p:cNvSpPr/>
          <p:nvPr/>
        </p:nvSpPr>
        <p:spPr>
          <a:xfrm>
            <a:off x="4892040" y="2880360"/>
            <a:ext cx="3657600" cy="457200"/>
          </a:xfrm>
          <a:prstGeom prst="rect">
            <a:avLst/>
          </a:prstGeom>
          <a:noFill/>
          <a:ln/>
        </p:spPr>
        <p:txBody>
          <a:bodyPr wrap="square" rtlCol="0" anchor="ctr"/>
          <a:lstStyle/>
          <a:p>
            <a:pPr indent="0" marL="0">
              <a:buNone/>
            </a:pPr>
            <a:r>
              <a:rPr lang="en-US" sz="1050" dirty="0">
                <a:solidFill>
                  <a:srgbClr val="64748B"/>
                </a:solidFill>
                <a:latin typeface="Calibri" pitchFamily="34" charset="0"/>
                <a:ea typeface="Calibri" pitchFamily="34" charset="-122"/>
                <a:cs typeface="Calibri" pitchFamily="34" charset="-120"/>
              </a:rPr>
              <a:t>Add temporal market trend modeling to account for housing market fluctuations over time.</a:t>
            </a:r>
            <a:endParaRPr lang="en-US" sz="1050" dirty="0"/>
          </a:p>
        </p:txBody>
      </p:sp>
      <p:sp>
        <p:nvSpPr>
          <p:cNvPr id="21" name="Shape 19"/>
          <p:cNvSpPr/>
          <p:nvPr/>
        </p:nvSpPr>
        <p:spPr>
          <a:xfrm>
            <a:off x="457200" y="3657600"/>
            <a:ext cx="3931920" cy="1005840"/>
          </a:xfrm>
          <a:prstGeom prst="rect">
            <a:avLst/>
          </a:prstGeom>
          <a:solidFill>
            <a:srgbClr val="F1F5F9"/>
          </a:solidFill>
          <a:ln/>
        </p:spPr>
      </p:sp>
      <p:sp>
        <p:nvSpPr>
          <p:cNvPr id="22" name="Shape 20"/>
          <p:cNvSpPr/>
          <p:nvPr/>
        </p:nvSpPr>
        <p:spPr>
          <a:xfrm>
            <a:off x="457200" y="3657600"/>
            <a:ext cx="3931920" cy="45720"/>
          </a:xfrm>
          <a:prstGeom prst="rect">
            <a:avLst/>
          </a:prstGeom>
          <a:solidFill>
            <a:srgbClr val="E94560"/>
          </a:solidFill>
          <a:ln/>
        </p:spPr>
      </p:sp>
      <p:sp>
        <p:nvSpPr>
          <p:cNvPr id="23" name="Text 21"/>
          <p:cNvSpPr/>
          <p:nvPr/>
        </p:nvSpPr>
        <p:spPr>
          <a:xfrm>
            <a:off x="594360" y="3794760"/>
            <a:ext cx="3657600" cy="274320"/>
          </a:xfrm>
          <a:prstGeom prst="rect">
            <a:avLst/>
          </a:prstGeom>
          <a:noFill/>
          <a:ln/>
        </p:spPr>
        <p:txBody>
          <a:bodyPr wrap="square"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Explainable AI (XAI)</a:t>
            </a:r>
            <a:endParaRPr lang="en-US" sz="1300" dirty="0"/>
          </a:p>
        </p:txBody>
      </p:sp>
      <p:sp>
        <p:nvSpPr>
          <p:cNvPr id="24" name="Text 22"/>
          <p:cNvSpPr/>
          <p:nvPr/>
        </p:nvSpPr>
        <p:spPr>
          <a:xfrm>
            <a:off x="594360" y="4114800"/>
            <a:ext cx="3657600" cy="457200"/>
          </a:xfrm>
          <a:prstGeom prst="rect">
            <a:avLst/>
          </a:prstGeom>
          <a:noFill/>
          <a:ln/>
        </p:spPr>
        <p:txBody>
          <a:bodyPr wrap="square" rtlCol="0" anchor="ctr"/>
          <a:lstStyle/>
          <a:p>
            <a:pPr indent="0" marL="0">
              <a:buNone/>
            </a:pPr>
            <a:r>
              <a:rPr lang="en-US" sz="1050" dirty="0">
                <a:solidFill>
                  <a:srgbClr val="64748B"/>
                </a:solidFill>
                <a:latin typeface="Calibri" pitchFamily="34" charset="0"/>
                <a:ea typeface="Calibri" pitchFamily="34" charset="-122"/>
                <a:cs typeface="Calibri" pitchFamily="34" charset="-120"/>
              </a:rPr>
              <a:t>Use SHAP/LIME for transparent, interpretable predictions to build trust with end users.</a:t>
            </a:r>
            <a:endParaRPr lang="en-US" sz="1050" dirty="0"/>
          </a:p>
        </p:txBody>
      </p:sp>
      <p:sp>
        <p:nvSpPr>
          <p:cNvPr id="25" name="Shape 23"/>
          <p:cNvSpPr/>
          <p:nvPr/>
        </p:nvSpPr>
        <p:spPr>
          <a:xfrm>
            <a:off x="4754880" y="3657600"/>
            <a:ext cx="3931920" cy="1005840"/>
          </a:xfrm>
          <a:prstGeom prst="rect">
            <a:avLst/>
          </a:prstGeom>
          <a:solidFill>
            <a:srgbClr val="F1F5F9"/>
          </a:solidFill>
          <a:ln/>
        </p:spPr>
      </p:sp>
      <p:sp>
        <p:nvSpPr>
          <p:cNvPr id="26" name="Shape 24"/>
          <p:cNvSpPr/>
          <p:nvPr/>
        </p:nvSpPr>
        <p:spPr>
          <a:xfrm>
            <a:off x="4754880" y="3657600"/>
            <a:ext cx="3931920" cy="45720"/>
          </a:xfrm>
          <a:prstGeom prst="rect">
            <a:avLst/>
          </a:prstGeom>
          <a:solidFill>
            <a:srgbClr val="E94560"/>
          </a:solidFill>
          <a:ln/>
        </p:spPr>
      </p:sp>
      <p:sp>
        <p:nvSpPr>
          <p:cNvPr id="27" name="Text 25"/>
          <p:cNvSpPr/>
          <p:nvPr/>
        </p:nvSpPr>
        <p:spPr>
          <a:xfrm>
            <a:off x="4892040" y="3794760"/>
            <a:ext cx="3657600" cy="274320"/>
          </a:xfrm>
          <a:prstGeom prst="rect">
            <a:avLst/>
          </a:prstGeom>
          <a:noFill/>
          <a:ln/>
        </p:spPr>
        <p:txBody>
          <a:bodyPr wrap="square"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Mobile Application</a:t>
            </a:r>
            <a:endParaRPr lang="en-US" sz="1300" dirty="0"/>
          </a:p>
        </p:txBody>
      </p:sp>
      <p:sp>
        <p:nvSpPr>
          <p:cNvPr id="28" name="Text 26"/>
          <p:cNvSpPr/>
          <p:nvPr/>
        </p:nvSpPr>
        <p:spPr>
          <a:xfrm>
            <a:off x="4892040" y="4114800"/>
            <a:ext cx="3657600" cy="457200"/>
          </a:xfrm>
          <a:prstGeom prst="rect">
            <a:avLst/>
          </a:prstGeom>
          <a:noFill/>
          <a:ln/>
        </p:spPr>
        <p:txBody>
          <a:bodyPr wrap="square" rtlCol="0" anchor="ctr"/>
          <a:lstStyle/>
          <a:p>
            <a:pPr indent="0" marL="0">
              <a:buNone/>
            </a:pPr>
            <a:r>
              <a:rPr lang="en-US" sz="1050" dirty="0">
                <a:solidFill>
                  <a:srgbClr val="64748B"/>
                </a:solidFill>
                <a:latin typeface="Calibri" pitchFamily="34" charset="0"/>
                <a:ea typeface="Calibri" pitchFamily="34" charset="-122"/>
                <a:cs typeface="Calibri" pitchFamily="34" charset="-120"/>
              </a:rPr>
              <a:t>Build a user-friendly mobile app for instant home valuation using camera-based feature detection.</a:t>
            </a:r>
            <a:endParaRPr lang="en-US" sz="1050" dirty="0"/>
          </a:p>
        </p:txBody>
      </p:sp>
      <p:sp>
        <p:nvSpPr>
          <p:cNvPr id="29" name="Text 27"/>
          <p:cNvSpPr/>
          <p:nvPr/>
        </p:nvSpPr>
        <p:spPr>
          <a:xfrm>
            <a:off x="7772400" y="4754880"/>
            <a:ext cx="1097280" cy="274320"/>
          </a:xfrm>
          <a:prstGeom prst="rect">
            <a:avLst/>
          </a:prstGeom>
          <a:noFill/>
          <a:ln/>
        </p:spPr>
        <p:txBody>
          <a:bodyPr wrap="square"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10 / 10</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House Sale Price Prediction</dc:title>
  <dc:subject>PptxGenJS Presentation</dc:subject>
  <dc:creator>ML Project</dc:creator>
  <cp:lastModifiedBy>ML Project</cp:lastModifiedBy>
  <cp:revision>1</cp:revision>
  <dcterms:created xsi:type="dcterms:W3CDTF">2026-04-07T07:47:20Z</dcterms:created>
  <dcterms:modified xsi:type="dcterms:W3CDTF">2026-04-07T07:47:20Z</dcterms:modified>
</cp:coreProperties>
</file>